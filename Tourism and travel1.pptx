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59" r:id="rId6"/>
    <p:sldId id="260" r:id="rId7"/>
    <p:sldId id="261" r:id="rId8"/>
    <p:sldId id="262" r:id="rId9"/>
    <p:sldId id="263" r:id="rId11"/>
    <p:sldId id="264" r:id="rId12"/>
    <p:sldId id="266" r:id="rId13"/>
    <p:sldId id="265" r:id="rId14"/>
    <p:sldId id="267" r:id="rId15"/>
    <p:sldId id="268" r:id="rId16"/>
    <p:sldId id="269" r:id="rId17"/>
    <p:sldId id="270" r:id="rId18"/>
    <p:sldId id="271" r:id="rId19"/>
    <p:sldId id="272" r:id="rId20"/>
    <p:sldId id="274"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211"/>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007533" y="620713"/>
            <a:ext cx="103632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2" name="Rectangle 5"/>
          <p:cNvSpPr>
            <a:spLocks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7730067" y="4438650"/>
            <a:ext cx="4453467" cy="2333625"/>
          </a:xfrm>
          <a:prstGeom prst="rect">
            <a:avLst/>
          </a:prstGeom>
          <a:noFill/>
          <a:ln w="9525">
            <a:noFill/>
          </a:ln>
        </p:spPr>
      </p:pic>
      <p:sp>
        <p:nvSpPr>
          <p:cNvPr id="1028" name="Rectangle 4"/>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1" name="Rectangle 7"/>
          <p:cNvSpPr>
            <a:spLocks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1290"/>
            <a:ext cx="9144000" cy="3348990"/>
          </a:xfrm>
        </p:spPr>
        <p:txBody>
          <a:bodyPr>
            <a:normAutofit fontScale="90000"/>
          </a:bodyPr>
          <a:lstStyle/>
          <a:p>
            <a:r>
              <a:rPr lang="en-US" altLang="en-US" b="1"/>
              <a:t>Project Title: Global Tourism Performance &amp; Revenue Optimization Analysis.</a:t>
            </a:r>
            <a:br>
              <a:rPr lang="en-US" altLang="en-US"/>
            </a:br>
            <a:r>
              <a:rPr lang="en-US" altLang="en-US"/>
              <a:t>.</a:t>
            </a:r>
            <a:endParaRPr lang="en-US" altLang="en-US"/>
          </a:p>
        </p:txBody>
      </p:sp>
      <p:sp>
        <p:nvSpPr>
          <p:cNvPr id="5" name="Text Box 4"/>
          <p:cNvSpPr txBox="1"/>
          <p:nvPr/>
        </p:nvSpPr>
        <p:spPr>
          <a:xfrm>
            <a:off x="2043430" y="2503805"/>
            <a:ext cx="7623175" cy="420370"/>
          </a:xfrm>
          <a:prstGeom prst="rect">
            <a:avLst/>
          </a:prstGeom>
          <a:noFill/>
        </p:spPr>
        <p:txBody>
          <a:bodyPr wrap="square" rtlCol="0">
            <a:noAutofit/>
          </a:bodyPr>
          <a:lstStyle/>
          <a:p>
            <a:pPr algn="ctr"/>
            <a:r>
              <a:rPr lang="en-US" altLang="en-US">
                <a:latin typeface="+mj-lt"/>
                <a:ea typeface="+mj-ea"/>
                <a:cs typeface="+mj-cs"/>
                <a:sym typeface="+mn-ea"/>
              </a:rPr>
              <a:t>Domain: Travel and Tourism</a:t>
            </a:r>
            <a:endParaRPr lang="en-US"/>
          </a:p>
        </p:txBody>
      </p:sp>
      <p:sp>
        <p:nvSpPr>
          <p:cNvPr id="7" name="Text Box 6"/>
          <p:cNvSpPr txBox="1"/>
          <p:nvPr/>
        </p:nvSpPr>
        <p:spPr>
          <a:xfrm>
            <a:off x="645160" y="2967990"/>
            <a:ext cx="3438525" cy="3702050"/>
          </a:xfrm>
          <a:prstGeom prst="rect">
            <a:avLst/>
          </a:prstGeom>
          <a:noFill/>
        </p:spPr>
        <p:txBody>
          <a:bodyPr wrap="square" rtlCol="0">
            <a:noAutofit/>
          </a:bodyPr>
          <a:p>
            <a:pPr algn="ctr"/>
            <a:r>
              <a:rPr lang="en-US" altLang="en-US" sz="1400" b="1"/>
              <a:t>Team Roles &amp; Responsibilities</a:t>
            </a:r>
            <a:endParaRPr lang="en-US" altLang="en-US" sz="1000"/>
          </a:p>
          <a:p>
            <a:endParaRPr lang="en-US" altLang="en-US" sz="1000"/>
          </a:p>
          <a:p>
            <a:r>
              <a:rPr lang="en-US" altLang="en-US" sz="1000"/>
              <a:t>Rahul Pandey</a:t>
            </a:r>
            <a:endParaRPr lang="en-US" altLang="en-US" sz="1000"/>
          </a:p>
          <a:p>
            <a:r>
              <a:rPr lang="en-US" altLang="en-US" sz="1000"/>
              <a:t>Defining project objectives and business metrics.</a:t>
            </a:r>
            <a:endParaRPr lang="en-US" altLang="en-US" sz="1000"/>
          </a:p>
          <a:p>
            <a:r>
              <a:rPr lang="en-US" altLang="en-US" sz="1000"/>
              <a:t>Overseeing the end-to-end data cleaning process and final data validation.</a:t>
            </a:r>
            <a:endParaRPr lang="en-US" altLang="en-US" sz="1000"/>
          </a:p>
          <a:p>
            <a:r>
              <a:rPr lang="en-US" altLang="en-US" sz="1000"/>
              <a:t>Compiling the final 20-slide presentation deck.</a:t>
            </a:r>
            <a:endParaRPr lang="en-US" altLang="en-US" sz="1000"/>
          </a:p>
          <a:p>
            <a:endParaRPr lang="en-US" altLang="en-US" sz="1000"/>
          </a:p>
          <a:p>
            <a:r>
              <a:rPr lang="en-US" altLang="en-US" sz="1000"/>
              <a:t>Venkatesh </a:t>
            </a:r>
            <a:endParaRPr lang="en-US" altLang="en-US" sz="1000"/>
          </a:p>
          <a:p>
            <a:r>
              <a:rPr lang="en-US" altLang="en-US" sz="1000"/>
              <a:t>Managing data collection and integration into the Excel workbook.</a:t>
            </a:r>
            <a:endParaRPr lang="en-US" altLang="en-US" sz="1000"/>
          </a:p>
          <a:p>
            <a:r>
              <a:rPr lang="en-US" altLang="en-US" sz="1000"/>
              <a:t>Executing data cleaning tasks (removing duplicates, handling missing values).</a:t>
            </a:r>
            <a:endParaRPr lang="en-US" altLang="en-US" sz="1000"/>
          </a:p>
          <a:p>
            <a:r>
              <a:rPr lang="en-US" altLang="en-US" sz="1000"/>
              <a:t>Building Pivot Tables for data summarization.</a:t>
            </a:r>
            <a:endParaRPr lang="en-US" altLang="en-US" sz="1000"/>
          </a:p>
          <a:p>
            <a:r>
              <a:rPr lang="en-US" altLang="en-US" sz="1000"/>
              <a:t>Find all the mathemathical operation using Central tendency and Co-efficient </a:t>
            </a:r>
            <a:endParaRPr lang="en-US" altLang="en-US" sz="1000"/>
          </a:p>
          <a:p>
            <a:r>
              <a:rPr lang="en-US" altLang="en-US" sz="1000"/>
              <a:t>Nisarga </a:t>
            </a:r>
            <a:endParaRPr lang="en-US" altLang="en-US" sz="1000"/>
          </a:p>
          <a:p>
            <a:r>
              <a:rPr lang="en-US" altLang="en-US" sz="1000"/>
              <a:t>Designing the interactive dashboard with slicers and filters.</a:t>
            </a:r>
            <a:endParaRPr lang="en-US" altLang="en-US" sz="1000"/>
          </a:p>
          <a:p>
            <a:r>
              <a:rPr lang="en-US" altLang="en-US" sz="1000"/>
              <a:t>Selecting   appropriate chart types for storytelling (Bar, Pie, Scatter).</a:t>
            </a:r>
            <a:endParaRPr lang="en-US" altLang="en-US" sz="1000"/>
          </a:p>
          <a:p>
            <a:r>
              <a:rPr lang="en-US" altLang="en-US" sz="1000"/>
              <a:t>Ensuring the visual narrative aligns with the business metrics.</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Freeform: Shape 34"/>
          <p:cNvSpPr>
            <a:spLocks noGrp="1" noRot="1" noChangeAspect="1" noMove="1" noResize="1" noEditPoints="1" noAdjustHandles="1" noChangeArrowheads="1" noChangeShapeType="1" noTextEdit="1"/>
          </p:cNvSpPr>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Freeform: Shape 36"/>
          <p:cNvSpPr>
            <a:spLocks noGrp="1" noRot="1" noChangeAspect="1" noMove="1" noResize="1" noEditPoints="1" noAdjustHandles="1" noChangeArrowheads="1" noChangeShapeType="1" noTextEdit="1"/>
          </p:cNvSpPr>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89098" y="1106034"/>
            <a:ext cx="5019074" cy="3204134"/>
          </a:xfrm>
        </p:spPr>
        <p:txBody>
          <a:bodyPr vert="horz" lIns="91440" tIns="45720" rIns="91440" bIns="45720" rtlCol="0" anchor="b">
            <a:normAutofit fontScale="90000"/>
          </a:bodyPr>
          <a:lstStyle/>
          <a:p>
            <a:pPr algn="ctr"/>
            <a:r>
              <a:rPr lang="en-US" altLang="en-US" sz="3200" b="1" i="1" u="sng"/>
              <a:t>Primary Objective: </a:t>
            </a:r>
            <a:br>
              <a:rPr lang="en-US" altLang="en-US" sz="2600"/>
            </a:br>
            <a:br>
              <a:rPr lang="en-US" altLang="en-US" sz="2600"/>
            </a:br>
            <a:r>
              <a:rPr lang="en-US" altLang="en-US" sz="2600"/>
              <a:t>To  identify high-performing tourism segments and provide actionable growth recommendations.</a:t>
            </a:r>
            <a:br>
              <a:rPr lang="en-US" altLang="en-US" sz="2600"/>
            </a:br>
            <a:r>
              <a:rPr lang="en-US" altLang="en-US" sz="2600">
                <a:sym typeface="+mn-ea"/>
              </a:rPr>
              <a:t>Data Volume: 5000+ records (Meeting the 1k-5k row mentor requirement).</a:t>
            </a:r>
            <a:endParaRPr lang="en-US" altLang="en-US" sz="2600">
              <a:sym typeface="+mn-ea"/>
            </a:endParaRPr>
          </a:p>
        </p:txBody>
      </p:sp>
      <p:sp>
        <p:nvSpPr>
          <p:cNvPr id="39" name="Rectangle 38"/>
          <p:cNvSpPr>
            <a:spLocks noGrp="1" noRot="1" noChangeAspect="1" noMove="1" noResize="1" noEditPoints="1" noAdjustHandles="1" noChangeArrowheads="1" noChangeShapeType="1" noTextEdit="1"/>
          </p:cNvSpPr>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Content Placeholder 6" descr="Screenshot 2026-02-22 132343"/>
          <p:cNvPicPr>
            <a:picLocks noGrp="1" noChangeAspect="1"/>
          </p:cNvPicPr>
          <p:nvPr>
            <p:ph idx="1"/>
          </p:nvPr>
        </p:nvPicPr>
        <p:blipFill>
          <a:blip r:embed="rId1"/>
          <a:srcRect t="87465" r="1452" b="5374"/>
          <a:stretch>
            <a:fillRect/>
          </a:stretch>
        </p:blipFill>
        <p:spPr>
          <a:xfrm>
            <a:off x="6994071" y="1681921"/>
            <a:ext cx="4708831" cy="630724"/>
          </a:xfrm>
          <a:prstGeom prst="rect">
            <a:avLst/>
          </a:prstGeom>
        </p:spPr>
      </p:pic>
      <p:sp>
        <p:nvSpPr>
          <p:cNvPr id="41" name="Rectangle 40"/>
          <p:cNvSpPr>
            <a:spLocks noGrp="1" noRot="1" noChangeAspect="1" noMove="1" noResize="1" noEditPoints="1" noAdjustHandles="1" noChangeArrowheads="1" noChangeShapeType="1" noTextEdit="1"/>
          </p:cNvSpPr>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8" name="Picture 28" descr="Screenshot 2026-02-21 184019"/>
          <p:cNvPicPr>
            <a:picLocks noChangeAspect="1"/>
          </p:cNvPicPr>
          <p:nvPr/>
        </p:nvPicPr>
        <p:blipFill>
          <a:blip r:embed="rId2"/>
          <a:stretch>
            <a:fillRect/>
          </a:stretch>
        </p:blipFill>
        <p:spPr>
          <a:xfrm>
            <a:off x="6994071" y="4221470"/>
            <a:ext cx="4708833" cy="14008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p:cNvSpPr>
            <a:spLocks noGrp="1" noRot="1" noChangeAspect="1" noMove="1" noResize="1" noEditPoints="1" noAdjustHandles="1" noChangeArrowheads="1" noChangeShapeType="1" noTextEdit="1"/>
          </p:cNvSpPr>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98257" y="637523"/>
            <a:ext cx="3608896" cy="1690993"/>
          </a:xfrm>
        </p:spPr>
        <p:txBody>
          <a:bodyPr vert="horz" lIns="91440" tIns="45720" rIns="91440" bIns="45720" rtlCol="0" anchor="b">
            <a:normAutofit/>
          </a:bodyPr>
          <a:lstStyle/>
          <a:p>
            <a:r>
              <a:rPr lang="en-US" altLang="en-US" sz="3600" kern="1200">
                <a:solidFill>
                  <a:srgbClr val="FFFFFF"/>
                </a:solidFill>
                <a:latin typeface="+mj-lt"/>
                <a:ea typeface="+mj-ea"/>
                <a:cs typeface="+mj-cs"/>
              </a:rPr>
              <a:t>Business &amp; Research Questions</a:t>
            </a:r>
            <a:endParaRPr lang="en-US" altLang="en-US" sz="3600" kern="1200">
              <a:solidFill>
                <a:srgbClr val="FFFFFF"/>
              </a:solidFill>
              <a:latin typeface="+mj-lt"/>
              <a:ea typeface="+mj-ea"/>
              <a:cs typeface="+mj-cs"/>
            </a:endParaRPr>
          </a:p>
        </p:txBody>
      </p:sp>
      <p:pic>
        <p:nvPicPr>
          <p:cNvPr id="11" name="Picture 10" descr="Screenshot 2026-02-21 184717"/>
          <p:cNvPicPr>
            <a:picLocks noChangeAspect="1"/>
          </p:cNvPicPr>
          <p:nvPr/>
        </p:nvPicPr>
        <p:blipFill>
          <a:blip r:embed="rId1"/>
          <a:srcRect r="2082" b="81948"/>
          <a:stretch>
            <a:fillRect/>
          </a:stretch>
        </p:blipFill>
        <p:spPr>
          <a:xfrm>
            <a:off x="4921885" y="5250180"/>
            <a:ext cx="3211195" cy="425450"/>
          </a:xfrm>
          <a:prstGeom prst="rect">
            <a:avLst/>
          </a:prstGeom>
        </p:spPr>
      </p:pic>
      <p:pic>
        <p:nvPicPr>
          <p:cNvPr id="12" name="Picture 11" descr="Screenshot 2026-02-21 184810"/>
          <p:cNvPicPr>
            <a:picLocks noChangeAspect="1"/>
          </p:cNvPicPr>
          <p:nvPr/>
        </p:nvPicPr>
        <p:blipFill>
          <a:blip r:embed="rId2"/>
          <a:srcRect b="81046"/>
          <a:stretch>
            <a:fillRect/>
          </a:stretch>
        </p:blipFill>
        <p:spPr>
          <a:xfrm>
            <a:off x="8477250" y="5250180"/>
            <a:ext cx="3169285" cy="425450"/>
          </a:xfrm>
          <a:prstGeom prst="rect">
            <a:avLst/>
          </a:prstGeom>
        </p:spPr>
      </p:pic>
      <p:sp>
        <p:nvSpPr>
          <p:cNvPr id="4" name="Text Box 3"/>
          <p:cNvSpPr txBox="1"/>
          <p:nvPr/>
        </p:nvSpPr>
        <p:spPr>
          <a:xfrm>
            <a:off x="798256" y="2474260"/>
            <a:ext cx="3607930" cy="36771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altLang="en-US" sz="1000" b="1">
                <a:solidFill>
                  <a:srgbClr val="FFFFFF"/>
                </a:solidFill>
              </a:rPr>
              <a:t>Revenue Contribution: </a:t>
            </a:r>
            <a:r>
              <a:rPr lang="en-US" altLang="en-US" sz="1000">
                <a:solidFill>
                  <a:srgbClr val="FFFFFF"/>
                </a:solidFill>
              </a:rPr>
              <a:t>Which tourism category (Nature, Beach, Historical) generates the highest total revenue?</a:t>
            </a:r>
            <a:endParaRPr lang="en-US" altLang="en-US" sz="1000">
              <a:solidFill>
                <a:srgbClr val="FFFFFF"/>
              </a:solidFill>
            </a:endParaRPr>
          </a:p>
          <a:p>
            <a:pPr indent="-228600">
              <a:lnSpc>
                <a:spcPct val="90000"/>
              </a:lnSpc>
              <a:spcAft>
                <a:spcPts val="600"/>
              </a:spcAft>
              <a:buFont typeface="Arial" panose="020B0604020202020204" pitchFamily="34" charset="0"/>
              <a:buChar char="•"/>
            </a:pPr>
            <a:endParaRPr lang="en-US" altLang="en-US" sz="1000">
              <a:solidFill>
                <a:srgbClr val="FFFFFF"/>
              </a:solidFill>
            </a:endParaRPr>
          </a:p>
          <a:p>
            <a:pPr indent="-228600">
              <a:lnSpc>
                <a:spcPct val="90000"/>
              </a:lnSpc>
              <a:spcAft>
                <a:spcPts val="600"/>
              </a:spcAft>
              <a:buFont typeface="Arial" panose="020B0604020202020204" pitchFamily="34" charset="0"/>
              <a:buChar char="•"/>
            </a:pPr>
            <a:r>
              <a:rPr lang="en-US" altLang="en-US" sz="1000" b="1">
                <a:solidFill>
                  <a:srgbClr val="FFFFFF"/>
                </a:solidFill>
              </a:rPr>
              <a:t>Visitor Density:</a:t>
            </a:r>
            <a:r>
              <a:rPr lang="en-US" altLang="en-US" sz="1000">
                <a:solidFill>
                  <a:srgbClr val="FFFFFF"/>
                </a:solidFill>
              </a:rPr>
              <a:t> Which countries are the market leaders in terms of total visitor footfall?</a:t>
            </a:r>
            <a:endParaRPr lang="en-US" altLang="en-US" sz="1000">
              <a:solidFill>
                <a:srgbClr val="FFFFFF"/>
              </a:solidFill>
            </a:endParaRPr>
          </a:p>
          <a:p>
            <a:pPr indent="-228600">
              <a:lnSpc>
                <a:spcPct val="90000"/>
              </a:lnSpc>
              <a:spcAft>
                <a:spcPts val="600"/>
              </a:spcAft>
              <a:buFont typeface="Arial" panose="020B0604020202020204" pitchFamily="34" charset="0"/>
              <a:buChar char="•"/>
            </a:pPr>
            <a:endParaRPr lang="en-US" altLang="en-US" sz="1000">
              <a:solidFill>
                <a:srgbClr val="FFFFFF"/>
              </a:solidFill>
            </a:endParaRPr>
          </a:p>
          <a:p>
            <a:pPr indent="-228600">
              <a:lnSpc>
                <a:spcPct val="90000"/>
              </a:lnSpc>
              <a:spcAft>
                <a:spcPts val="600"/>
              </a:spcAft>
              <a:buFont typeface="Arial" panose="020B0604020202020204" pitchFamily="34" charset="0"/>
              <a:buChar char="•"/>
            </a:pPr>
            <a:r>
              <a:rPr lang="en-US" altLang="en-US" sz="1000" b="1">
                <a:solidFill>
                  <a:srgbClr val="FFFFFF"/>
                </a:solidFill>
              </a:rPr>
              <a:t>Satisfaction Index: </a:t>
            </a:r>
            <a:r>
              <a:rPr lang="en-US" altLang="en-US" sz="1000">
                <a:solidFill>
                  <a:srgbClr val="FFFFFF"/>
                </a:solidFill>
              </a:rPr>
              <a:t>What is the average customer rating across different tourism categories?</a:t>
            </a:r>
            <a:endParaRPr lang="en-US" altLang="en-US" sz="1000">
              <a:solidFill>
                <a:srgbClr val="FFFFFF"/>
              </a:solidFill>
            </a:endParaRPr>
          </a:p>
          <a:p>
            <a:pPr indent="-228600">
              <a:lnSpc>
                <a:spcPct val="90000"/>
              </a:lnSpc>
              <a:spcAft>
                <a:spcPts val="600"/>
              </a:spcAft>
              <a:buFont typeface="Arial" panose="020B0604020202020204" pitchFamily="34" charset="0"/>
              <a:buChar char="•"/>
            </a:pPr>
            <a:endParaRPr lang="en-US" altLang="en-US" sz="1000">
              <a:solidFill>
                <a:srgbClr val="FFFFFF"/>
              </a:solidFill>
            </a:endParaRPr>
          </a:p>
          <a:p>
            <a:pPr indent="-228600">
              <a:lnSpc>
                <a:spcPct val="90000"/>
              </a:lnSpc>
              <a:spcAft>
                <a:spcPts val="600"/>
              </a:spcAft>
              <a:buFont typeface="Arial" panose="020B0604020202020204" pitchFamily="34" charset="0"/>
              <a:buChar char="•"/>
            </a:pPr>
            <a:r>
              <a:rPr lang="en-US" altLang="en-US" sz="1000" b="1">
                <a:solidFill>
                  <a:srgbClr val="FFFFFF"/>
                </a:solidFill>
              </a:rPr>
              <a:t>Infrastructure ROI</a:t>
            </a:r>
            <a:r>
              <a:rPr lang="en-US" altLang="en-US" sz="1000">
                <a:solidFill>
                  <a:srgbClr val="FFFFFF"/>
                </a:solidFill>
              </a:rPr>
              <a:t>: How does the availability of accommodation impact the average revenue of a destination?</a:t>
            </a:r>
            <a:endParaRPr lang="en-US" altLang="en-US" sz="1000">
              <a:solidFill>
                <a:srgbClr val="FFFFFF"/>
              </a:solidFill>
            </a:endParaRPr>
          </a:p>
          <a:p>
            <a:pPr indent="-228600">
              <a:lnSpc>
                <a:spcPct val="90000"/>
              </a:lnSpc>
              <a:spcAft>
                <a:spcPts val="600"/>
              </a:spcAft>
              <a:buFont typeface="Arial" panose="020B0604020202020204" pitchFamily="34" charset="0"/>
              <a:buChar char="•"/>
            </a:pPr>
            <a:endParaRPr lang="en-US" altLang="en-US" sz="1000">
              <a:solidFill>
                <a:srgbClr val="FFFFFF"/>
              </a:solidFill>
            </a:endParaRPr>
          </a:p>
          <a:p>
            <a:pPr indent="-228600">
              <a:lnSpc>
                <a:spcPct val="90000"/>
              </a:lnSpc>
              <a:spcAft>
                <a:spcPts val="600"/>
              </a:spcAft>
              <a:buFont typeface="Arial" panose="020B0604020202020204" pitchFamily="34" charset="0"/>
              <a:buChar char="•"/>
            </a:pPr>
            <a:r>
              <a:rPr lang="en-US" altLang="en-US" sz="1000" b="1">
                <a:solidFill>
                  <a:srgbClr val="FFFFFF"/>
                </a:solidFill>
              </a:rPr>
              <a:t>Quality-Demand Correlation:</a:t>
            </a:r>
            <a:r>
              <a:rPr lang="en-US" altLang="en-US" sz="1000">
                <a:solidFill>
                  <a:srgbClr val="FFFFFF"/>
                </a:solidFill>
              </a:rPr>
              <a:t> Is there a statistical relationship between high ratings and the number of visitors?</a:t>
            </a:r>
            <a:endParaRPr lang="en-US" altLang="en-US" sz="1000">
              <a:solidFill>
                <a:srgbClr val="FFFFFF"/>
              </a:solidFill>
            </a:endParaRPr>
          </a:p>
          <a:p>
            <a:pPr indent="-228600">
              <a:lnSpc>
                <a:spcPct val="90000"/>
              </a:lnSpc>
              <a:spcAft>
                <a:spcPts val="600"/>
              </a:spcAft>
              <a:buFont typeface="Arial" panose="020B0604020202020204" pitchFamily="34" charset="0"/>
              <a:buChar char="•"/>
            </a:pPr>
            <a:endParaRPr lang="en-US" altLang="en-US" sz="1000">
              <a:solidFill>
                <a:srgbClr val="FFFFFF"/>
              </a:solidFill>
            </a:endParaRPr>
          </a:p>
          <a:p>
            <a:pPr indent="-228600">
              <a:lnSpc>
                <a:spcPct val="90000"/>
              </a:lnSpc>
              <a:spcAft>
                <a:spcPts val="600"/>
              </a:spcAft>
              <a:buFont typeface="Arial" panose="020B0604020202020204" pitchFamily="34" charset="0"/>
              <a:buChar char="•"/>
            </a:pPr>
            <a:r>
              <a:rPr lang="en-US" altLang="en-US" sz="1000" b="1">
                <a:solidFill>
                  <a:srgbClr val="FFFFFF"/>
                </a:solidFill>
              </a:rPr>
              <a:t>Economic Efficiency:</a:t>
            </a:r>
            <a:r>
              <a:rPr lang="en-US" altLang="en-US" sz="1000">
                <a:solidFill>
                  <a:srgbClr val="FFFFFF"/>
                </a:solidFill>
              </a:rPr>
              <a:t> Which destinations generate the highest "Revenue per Visitor"?</a:t>
            </a:r>
            <a:endParaRPr lang="en-US" sz="1000">
              <a:solidFill>
                <a:srgbClr val="FFFFFF"/>
              </a:solidFill>
            </a:endParaRPr>
          </a:p>
        </p:txBody>
      </p:sp>
      <p:pic>
        <p:nvPicPr>
          <p:cNvPr id="6" name="Content Placeholder 5" descr="Screenshot 2026-02-21 184606"/>
          <p:cNvPicPr>
            <a:picLocks noGrp="1" noChangeAspect="1"/>
          </p:cNvPicPr>
          <p:nvPr>
            <p:ph idx="1"/>
          </p:nvPr>
        </p:nvPicPr>
        <p:blipFill>
          <a:blip r:embed="rId3"/>
          <a:srcRect l="7365" t="987" r="-454" b="81075"/>
          <a:stretch>
            <a:fillRect/>
          </a:stretch>
        </p:blipFill>
        <p:spPr>
          <a:xfrm>
            <a:off x="4957445" y="1134745"/>
            <a:ext cx="3220085" cy="602615"/>
          </a:xfrm>
          <a:prstGeom prst="rect">
            <a:avLst/>
          </a:prstGeom>
        </p:spPr>
      </p:pic>
      <p:pic>
        <p:nvPicPr>
          <p:cNvPr id="8" name="Picture 7" descr="Screenshot 2026-02-21 184641"/>
          <p:cNvPicPr>
            <a:picLocks noChangeAspect="1"/>
          </p:cNvPicPr>
          <p:nvPr/>
        </p:nvPicPr>
        <p:blipFill>
          <a:blip r:embed="rId4"/>
          <a:srcRect l="3728" t="-1200" r="3275" b="77543"/>
          <a:stretch>
            <a:fillRect/>
          </a:stretch>
        </p:blipFill>
        <p:spPr>
          <a:xfrm>
            <a:off x="5000625" y="3093085"/>
            <a:ext cx="3133090" cy="635635"/>
          </a:xfrm>
          <a:prstGeom prst="rect">
            <a:avLst/>
          </a:prstGeom>
        </p:spPr>
      </p:pic>
      <p:pic>
        <p:nvPicPr>
          <p:cNvPr id="10" name="Picture 9" descr="Screenshot 2026-02-21 184657"/>
          <p:cNvPicPr>
            <a:picLocks noChangeAspect="1"/>
          </p:cNvPicPr>
          <p:nvPr/>
        </p:nvPicPr>
        <p:blipFill>
          <a:blip r:embed="rId5"/>
          <a:srcRect r="-1697" b="85843"/>
          <a:stretch>
            <a:fillRect/>
          </a:stretch>
        </p:blipFill>
        <p:spPr>
          <a:xfrm>
            <a:off x="8602345" y="3093085"/>
            <a:ext cx="3434715" cy="635635"/>
          </a:xfrm>
          <a:prstGeom prst="rect">
            <a:avLst/>
          </a:prstGeom>
        </p:spPr>
      </p:pic>
      <p:pic>
        <p:nvPicPr>
          <p:cNvPr id="7" name="Picture 6" descr="Screenshot 2026-02-21 184625"/>
          <p:cNvPicPr>
            <a:picLocks noChangeAspect="1"/>
          </p:cNvPicPr>
          <p:nvPr/>
        </p:nvPicPr>
        <p:blipFill>
          <a:blip r:embed="rId6"/>
          <a:srcRect l="787" r="4270" b="81829"/>
          <a:stretch>
            <a:fillRect/>
          </a:stretch>
        </p:blipFill>
        <p:spPr>
          <a:xfrm>
            <a:off x="8728710" y="1134745"/>
            <a:ext cx="3169285" cy="6026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682"/>
            <a:ext cx="3200400" cy="2647251"/>
          </a:xfrm>
        </p:spPr>
        <p:txBody>
          <a:bodyPr anchor="t">
            <a:normAutofit/>
          </a:bodyPr>
          <a:lstStyle/>
          <a:p>
            <a:r>
              <a:rPr lang="en-US" altLang="en-US" sz="3200" b="1"/>
              <a:t>Data Cleaning &amp; Preprocessing Strategy</a:t>
            </a:r>
            <a:endParaRPr lang="en-US" altLang="en-US" sz="3200" b="1"/>
          </a:p>
        </p:txBody>
      </p:sp>
      <p:pic>
        <p:nvPicPr>
          <p:cNvPr id="34" name="Picture 34" descr="Screenshot 2026-02-17 134646"/>
          <p:cNvPicPr>
            <a:picLocks noChangeAspect="1"/>
          </p:cNvPicPr>
          <p:nvPr/>
        </p:nvPicPr>
        <p:blipFill>
          <a:blip r:embed="rId1"/>
          <a:stretch>
            <a:fillRect/>
          </a:stretch>
        </p:blipFill>
        <p:spPr>
          <a:xfrm>
            <a:off x="4290983" y="146900"/>
            <a:ext cx="2526004" cy="1873463"/>
          </a:xfrm>
          <a:prstGeom prst="rect">
            <a:avLst/>
          </a:prstGeom>
        </p:spPr>
      </p:pic>
      <p:pic>
        <p:nvPicPr>
          <p:cNvPr id="4" name="Picture 3" descr="Screenshot 2026-02-22 141628"/>
          <p:cNvPicPr>
            <a:picLocks noChangeAspect="1"/>
          </p:cNvPicPr>
          <p:nvPr/>
        </p:nvPicPr>
        <p:blipFill>
          <a:blip r:embed="rId2"/>
          <a:stretch>
            <a:fillRect/>
          </a:stretch>
        </p:blipFill>
        <p:spPr>
          <a:xfrm>
            <a:off x="3277732" y="1940717"/>
            <a:ext cx="3875052" cy="1473091"/>
          </a:xfrm>
          <a:prstGeom prst="rect">
            <a:avLst/>
          </a:prstGeom>
        </p:spPr>
      </p:pic>
      <p:pic>
        <p:nvPicPr>
          <p:cNvPr id="6" name="Picture 5" descr="Screenshot 2026-02-22 142031"/>
          <p:cNvPicPr>
            <a:picLocks noChangeAspect="1"/>
          </p:cNvPicPr>
          <p:nvPr/>
        </p:nvPicPr>
        <p:blipFill>
          <a:blip r:embed="rId3"/>
          <a:srcRect t="2438"/>
          <a:stretch>
            <a:fillRect/>
          </a:stretch>
        </p:blipFill>
        <p:spPr>
          <a:xfrm>
            <a:off x="3272155" y="3418205"/>
            <a:ext cx="3867785" cy="1825625"/>
          </a:xfrm>
          <a:prstGeom prst="rect">
            <a:avLst/>
          </a:prstGeom>
        </p:spPr>
      </p:pic>
      <p:pic>
        <p:nvPicPr>
          <p:cNvPr id="8" name="Picture 7" descr="Screenshot 2026-02-22 142800"/>
          <p:cNvPicPr>
            <a:picLocks noChangeAspect="1"/>
          </p:cNvPicPr>
          <p:nvPr/>
        </p:nvPicPr>
        <p:blipFill>
          <a:blip r:embed="rId4"/>
          <a:stretch>
            <a:fillRect/>
          </a:stretch>
        </p:blipFill>
        <p:spPr>
          <a:xfrm>
            <a:off x="672438" y="5176036"/>
            <a:ext cx="6144549" cy="1149720"/>
          </a:xfrm>
          <a:prstGeom prst="rect">
            <a:avLst/>
          </a:prstGeom>
        </p:spPr>
      </p:pic>
      <p:sp>
        <p:nvSpPr>
          <p:cNvPr id="3" name="Content Placeholder 2"/>
          <p:cNvSpPr>
            <a:spLocks noGrp="1"/>
          </p:cNvSpPr>
          <p:nvPr>
            <p:ph idx="1"/>
          </p:nvPr>
        </p:nvSpPr>
        <p:spPr>
          <a:xfrm>
            <a:off x="7424420" y="1035685"/>
            <a:ext cx="4298315" cy="4758055"/>
          </a:xfrm>
        </p:spPr>
        <p:txBody>
          <a:bodyPr>
            <a:normAutofit/>
          </a:bodyPr>
          <a:lstStyle/>
          <a:p>
            <a:r>
              <a:rPr lang="en-US" altLang="en-US" sz="2000" b="1"/>
              <a:t>Data Validation: </a:t>
            </a:r>
            <a:r>
              <a:rPr lang="en-US" altLang="en-US" sz="2000"/>
              <a:t>Convert Revenue to Currency and Visitors to Number format.</a:t>
            </a:r>
            <a:endParaRPr lang="en-US" altLang="en-US" sz="2000"/>
          </a:p>
          <a:p>
            <a:r>
              <a:rPr lang="en-US" altLang="en-US" sz="2000" b="1"/>
              <a:t>Duplicate Removal:</a:t>
            </a:r>
            <a:r>
              <a:rPr lang="en-US" altLang="en-US" sz="2000"/>
              <a:t> Execute the "Remove Duplicates" function in Excel to ensure </a:t>
            </a:r>
            <a:endParaRPr lang="en-US" altLang="en-US" sz="2000"/>
          </a:p>
          <a:p>
            <a:pPr marL="0" indent="0">
              <a:buNone/>
            </a:pPr>
            <a:r>
              <a:rPr lang="en-US" altLang="en-US" sz="2000"/>
              <a:t>    data integrity.</a:t>
            </a:r>
            <a:endParaRPr lang="en-US" altLang="en-US" sz="2000"/>
          </a:p>
          <a:p>
            <a:r>
              <a:rPr lang="en-US" altLang="en-US" sz="2000" b="1"/>
              <a:t>Missing Value Handling:</a:t>
            </a:r>
            <a:r>
              <a:rPr lang="en-US" altLang="en-US" sz="2000"/>
              <a:t> Identify null values and perform appropriate imputation.</a:t>
            </a:r>
            <a:endParaRPr lang="en-US" altLang="en-US" sz="2000"/>
          </a:p>
          <a:p>
            <a:r>
              <a:rPr lang="en-US" altLang="en-US" sz="2000" b="1"/>
              <a:t>Transformation:</a:t>
            </a:r>
            <a:r>
              <a:rPr lang="en-US" altLang="en-US" sz="2000"/>
              <a:t> Professionalize column headers (e.g., "Location" to </a:t>
            </a:r>
            <a:endParaRPr lang="en-US" altLang="en-US" sz="2000"/>
          </a:p>
          <a:p>
            <a:pPr marL="0" indent="0">
              <a:buNone/>
            </a:pPr>
            <a:r>
              <a:rPr lang="en-US" altLang="en-US" sz="2000"/>
              <a:t>    "Destination_ID").</a:t>
            </a:r>
            <a:endParaRPr lang="en-US" altLang="en-US" sz="2000"/>
          </a:p>
        </p:txBody>
      </p:sp>
      <p:grpSp>
        <p:nvGrpSpPr>
          <p:cNvPr id="39" name="Group 38"/>
          <p:cNvGrpSpPr>
            <a:grpSpLocks noGrp="1" noRot="1" noChangeAspect="1" noMove="1" noResize="1" noUngrp="1"/>
          </p:cNvGrpSpPr>
          <p:nvPr/>
        </p:nvGrpSpPr>
        <p:grpSpPr>
          <a:xfrm flipH="1">
            <a:off x="1" y="6737460"/>
            <a:ext cx="12192000" cy="123364"/>
            <a:chOff x="1" y="6737460"/>
            <a:chExt cx="12192000" cy="123364"/>
          </a:xfrm>
        </p:grpSpPr>
        <p:sp>
          <p:nvSpPr>
            <p:cNvPr id="40" name="Rectangle 39"/>
            <p:cNvSpPr/>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sz="4000" b="1"/>
              <a:t>Data Transformation &amp; Formatting</a:t>
            </a:r>
            <a:endParaRPr lang="en-US" altLang="en-US" sz="4000" b="1"/>
          </a:p>
        </p:txBody>
      </p:sp>
      <p:sp>
        <p:nvSpPr>
          <p:cNvPr id="3" name="Content Placeholder 2"/>
          <p:cNvSpPr>
            <a:spLocks noGrp="1"/>
          </p:cNvSpPr>
          <p:nvPr>
            <p:ph idx="1"/>
          </p:nvPr>
        </p:nvSpPr>
        <p:spPr>
          <a:xfrm>
            <a:off x="838200" y="1487170"/>
            <a:ext cx="10515600" cy="3280410"/>
          </a:xfrm>
        </p:spPr>
        <p:txBody>
          <a:bodyPr>
            <a:normAutofit fontScale="60000"/>
          </a:bodyPr>
          <a:lstStyle/>
          <a:p>
            <a:r>
              <a:rPr lang="en-US" altLang="en-US"/>
              <a:t>Revenue Column: Change the format to Currency ($) with 0 decimal places.</a:t>
            </a:r>
            <a:endParaRPr lang="en-US" altLang="en-US"/>
          </a:p>
          <a:p>
            <a:endParaRPr lang="en-US" altLang="en-US"/>
          </a:p>
          <a:p>
            <a:r>
              <a:rPr lang="en-US" altLang="en-US"/>
              <a:t>Visitors Column: Change the format to Number with a comma separator (e.g., 1,000).</a:t>
            </a:r>
            <a:endParaRPr lang="en-US" altLang="en-US"/>
          </a:p>
          <a:p>
            <a:endParaRPr lang="en-US" altLang="en-US"/>
          </a:p>
          <a:p>
            <a:r>
              <a:rPr lang="en-US" altLang="en-US"/>
              <a:t>Rating Column: Ensure it is a Number with 1 decimal place.</a:t>
            </a:r>
            <a:endParaRPr lang="en-US" altLang="en-US"/>
          </a:p>
          <a:p>
            <a:endParaRPr lang="en-US" altLang="en-US"/>
          </a:p>
          <a:p>
            <a:r>
              <a:rPr lang="en-US" altLang="en-US"/>
              <a:t>New Calculation (For KPI #6): Add a new column "H" titled Revenue_Per_Visitor.</a:t>
            </a:r>
            <a:endParaRPr lang="en-US" altLang="en-US"/>
          </a:p>
          <a:p>
            <a:r>
              <a:rPr lang="en-US" altLang="en-US"/>
              <a:t>Logic Check: "Performed a consistency check between Revenue and Visitor counts. Calculated the 'Revenue per Visitor' metric to identify economic efficiency across 5,989 records."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creenshot 2026-02-21 185255"/>
          <p:cNvPicPr>
            <a:picLocks noChangeAspect="1"/>
          </p:cNvPicPr>
          <p:nvPr/>
        </p:nvPicPr>
        <p:blipFill>
          <a:blip r:embed="rId1"/>
          <a:srcRect r="-2" b="12545"/>
          <a:stretch>
            <a:fillRect/>
          </a:stretch>
        </p:blipFill>
        <p:spPr>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6" name="Picture 5" descr="Screenshot 2026-02-21 185238"/>
          <p:cNvPicPr>
            <a:picLocks noChangeAspect="1"/>
          </p:cNvPicPr>
          <p:nvPr/>
        </p:nvPicPr>
        <p:blipFill>
          <a:blip r:embed="rId2"/>
          <a:srcRect r="-1" b="10320"/>
          <a:stretch>
            <a:fillRect/>
          </a:stretch>
        </p:blipFill>
        <p:spPr>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5" name="Picture 4" descr="Screenshot 2026-02-21 185214"/>
          <p:cNvPicPr>
            <a:picLocks noChangeAspect="1"/>
          </p:cNvPicPr>
          <p:nvPr/>
        </p:nvPicPr>
        <p:blipFill>
          <a:blip r:embed="rId3"/>
          <a:srcRect b="19337"/>
          <a:stretch>
            <a:fillRect/>
          </a:stretch>
        </p:blipFill>
        <p:spPr>
          <a:xfrm>
            <a:off x="3241088" y="3766398"/>
            <a:ext cx="4873819" cy="3091602"/>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38" name="Freeform: Shape 37"/>
          <p:cNvSpPr>
            <a:spLocks noGrp="1" noRot="1" noChangeAspect="1" noMove="1" noResize="1" noEditPoints="1" noAdjustHandles="1" noChangeArrowheads="1" noChangeShapeType="1" noTextEdit="1"/>
          </p:cNvSpPr>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0" name="Freeform: Shape 39"/>
          <p:cNvSpPr>
            <a:spLocks noGrp="1" noRot="1" noChangeAspect="1" noMove="1" noResize="1" noEditPoints="1" noAdjustHandles="1" noChangeArrowheads="1" noChangeShapeType="1" noTextEdit="1"/>
          </p:cNvSpPr>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48056" y="685800"/>
            <a:ext cx="2807208" cy="1325563"/>
          </a:xfrm>
        </p:spPr>
        <p:txBody>
          <a:bodyPr vert="horz" lIns="91440" tIns="45720" rIns="91440" bIns="45720" rtlCol="0" anchor="ctr">
            <a:normAutofit/>
          </a:bodyPr>
          <a:lstStyle/>
          <a:p>
            <a:r>
              <a:rPr lang="en-US" sz="2600" b="1" kern="1200">
                <a:solidFill>
                  <a:schemeClr val="tx1"/>
                </a:solidFill>
                <a:latin typeface="+mj-lt"/>
                <a:ea typeface="+mj-ea"/>
                <a:cs typeface="+mj-cs"/>
              </a:rPr>
              <a:t>Identification of Statistical  Anomalies</a:t>
            </a:r>
            <a:r>
              <a:rPr lang="en-US" sz="2600" kern="1200">
                <a:solidFill>
                  <a:schemeClr val="tx1"/>
                </a:solidFill>
                <a:latin typeface="+mj-lt"/>
                <a:ea typeface="+mj-ea"/>
                <a:cs typeface="+mj-cs"/>
              </a:rPr>
              <a:t>(Outlier)</a:t>
            </a:r>
            <a:endParaRPr lang="en-US" sz="2600" kern="1200">
              <a:solidFill>
                <a:schemeClr val="tx1"/>
              </a:solidFill>
              <a:latin typeface="+mj-lt"/>
              <a:ea typeface="+mj-ea"/>
              <a:cs typeface="+mj-cs"/>
            </a:endParaRPr>
          </a:p>
        </p:txBody>
      </p:sp>
      <p:sp>
        <p:nvSpPr>
          <p:cNvPr id="42" name="Rectangle 41"/>
          <p:cNvSpPr>
            <a:spLocks noGrp="1" noRot="1" noChangeAspect="1" noMove="1" noResize="1" noEditPoints="1" noAdjustHandles="1" noChangeArrowheads="1" noChangeShapeType="1" noTextEdit="1"/>
          </p:cNvSpPr>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p:cNvSpPr>
            <a:spLocks noGrp="1" noRot="1" noChangeAspect="1" noMove="1" noResize="1" noEditPoints="1" noAdjustHandles="1" noChangeArrowheads="1" noChangeShapeType="1" noTextEdit="1"/>
          </p:cNvSpPr>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448056" y="2258568"/>
            <a:ext cx="2807208" cy="3922776"/>
          </a:xfrm>
          <a:prstGeom prst="rect">
            <a:avLst/>
          </a:prstGeom>
        </p:spPr>
        <p:txBody>
          <a:bodyPr rot="0" spcFirstLastPara="0" vertOverflow="overflow" horzOverflow="overflow" vert="horz" lIns="91440" tIns="45720" rIns="91440" bIns="45720" numCol="1" spcCol="0" rtlCol="0" fromWordArt="0" anchorCtr="0" forceAA="0" compatLnSpc="1">
            <a:normAutofit/>
          </a:bodyPr>
          <a:lstStyle/>
          <a:p>
            <a:pPr indent="-228600">
              <a:lnSpc>
                <a:spcPct val="90000"/>
              </a:lnSpc>
              <a:spcAft>
                <a:spcPts val="600"/>
              </a:spcAft>
              <a:buFont typeface="Arial" panose="020B0604020202020204" pitchFamily="34" charset="0"/>
              <a:buChar char="•"/>
            </a:pPr>
            <a:r>
              <a:rPr lang="en-US" sz="1700" dirty="0"/>
              <a:t>Metric Stability: Revenue, Visitor counts, and Ratings showed stable, standard distributions.</a:t>
            </a:r>
            <a:endParaRPr lang="en-US" sz="1700"/>
          </a:p>
          <a:p>
            <a:pPr indent="-228600">
              <a:lnSpc>
                <a:spcPct val="90000"/>
              </a:lnSpc>
              <a:spcAft>
                <a:spcPts val="600"/>
              </a:spcAft>
              <a:buFont typeface="Arial" panose="020B0604020202020204" pitchFamily="34" charset="0"/>
              <a:buChar char="•"/>
            </a:pPr>
            <a:r>
              <a:rPr lang="en-US" sz="1700" dirty="0"/>
              <a:t>The Anomaly: </a:t>
            </a:r>
            <a:r>
              <a:rPr lang="en-US" sz="1700"/>
              <a:t>Revenue_Per_Visitor</a:t>
            </a:r>
            <a:r>
              <a:rPr lang="en-US" sz="1700" dirty="0"/>
              <a:t> box plot reveals extreme "Skyrocket" outliers peaking near 800+</a:t>
            </a:r>
            <a:endParaRPr lang="en-US" sz="1700"/>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a:t>
            </a:r>
            <a:endParaRPr lang="en-US" sz="1700"/>
          </a:p>
        </p:txBody>
      </p:sp>
      <p:pic>
        <p:nvPicPr>
          <p:cNvPr id="4" name="Content Placeholder 3" descr="Screenshot 2026-02-21 185158"/>
          <p:cNvPicPr>
            <a:picLocks noGrp="1" noChangeAspect="1"/>
          </p:cNvPicPr>
          <p:nvPr>
            <p:ph idx="1"/>
          </p:nvPr>
        </p:nvPicPr>
        <p:blipFill>
          <a:blip r:embed="rId4"/>
          <a:srcRect b="15685"/>
          <a:stretch>
            <a:fillRect/>
          </a:stretch>
        </p:blipFill>
        <p:spPr>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p:spPr>
      </p:pic>
      <p:sp>
        <p:nvSpPr>
          <p:cNvPr id="8" name="TextBox 7"/>
          <p:cNvSpPr txBox="1"/>
          <p:nvPr/>
        </p:nvSpPr>
        <p:spPr>
          <a:xfrm>
            <a:off x="127624" y="4481805"/>
            <a:ext cx="342165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ea typeface="Calibri" panose="020F0502020204030204"/>
                <a:cs typeface="Calibri" panose="020F0502020204030204"/>
              </a:rPr>
              <a:t>Business Insight</a:t>
            </a:r>
            <a:endParaRPr lang="en-US" b="1" dirty="0">
              <a:ea typeface="Calibri" panose="020F0502020204030204"/>
              <a:cs typeface="Calibri" panose="020F0502020204030204"/>
            </a:endParaRPr>
          </a:p>
          <a:p>
            <a:r>
              <a:rPr lang="en-US" dirty="0">
                <a:ea typeface="Calibri" panose="020F0502020204030204"/>
                <a:cs typeface="Calibri" panose="020F0502020204030204"/>
              </a:rPr>
              <a:t>These "Skyrocket " anomalies(near 800) distort the true economic efficiency of destinations ,making raw averages unreliable for investment decisions</a:t>
            </a:r>
            <a:endParaRPr lang="en-US" dirty="0">
              <a:ea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descr="Screenshot 2026-02-21 184123"/>
          <p:cNvPicPr>
            <a:picLocks noChangeAspect="1"/>
          </p:cNvPicPr>
          <p:nvPr>
            <p:ph idx="1"/>
          </p:nvPr>
        </p:nvPicPr>
        <p:blipFill>
          <a:blip r:embed="rId1"/>
          <a:srcRect r="42258"/>
          <a:stretch>
            <a:fillRect/>
          </a:stretch>
        </p:blipFill>
        <p:spPr>
          <a:xfrm>
            <a:off x="6308090" y="2707640"/>
            <a:ext cx="5496747" cy="2743200"/>
          </a:xfrm>
          <a:prstGeom prst="rect">
            <a:avLst/>
          </a:prstGeom>
        </p:spPr>
      </p:pic>
      <p:pic>
        <p:nvPicPr>
          <p:cNvPr id="6" name="Picture 5" descr="Screenshot 2026-02-21 184259"/>
          <p:cNvPicPr>
            <a:picLocks noChangeAspect="1"/>
          </p:cNvPicPr>
          <p:nvPr/>
        </p:nvPicPr>
        <p:blipFill>
          <a:blip r:embed="rId2"/>
          <a:srcRect l="5514" r="4167"/>
          <a:stretch>
            <a:fillRect/>
          </a:stretch>
        </p:blipFill>
        <p:spPr>
          <a:xfrm>
            <a:off x="6560185" y="103505"/>
            <a:ext cx="5182751" cy="2743200"/>
          </a:xfrm>
          <a:prstGeom prst="rect">
            <a:avLst/>
          </a:prstGeom>
        </p:spPr>
      </p:pic>
      <p:sp>
        <p:nvSpPr>
          <p:cNvPr id="7" name="Text Box 6"/>
          <p:cNvSpPr txBox="1"/>
          <p:nvPr/>
        </p:nvSpPr>
        <p:spPr>
          <a:xfrm>
            <a:off x="168910" y="4599940"/>
            <a:ext cx="4472305" cy="1508760"/>
          </a:xfrm>
          <a:prstGeom prst="rect">
            <a:avLst/>
          </a:prstGeom>
          <a:noFill/>
        </p:spPr>
        <p:txBody>
          <a:bodyPr wrap="square" rtlCol="0">
            <a:noAutofit/>
          </a:bodyPr>
          <a:p>
            <a:r>
              <a:rPr lang="en-US" altLang="en-US" b="1"/>
              <a:t>Business Insight :</a:t>
            </a:r>
            <a:r>
              <a:rPr lang="en-US" altLang="en-US"/>
              <a:t> These extreme value create a "false efficiency" narrative; using raw data would lead to skewed regional comparisons and poor investment decisions.</a:t>
            </a:r>
            <a:endParaRPr lang="en-US" altLang="en-US"/>
          </a:p>
        </p:txBody>
      </p:sp>
      <p:sp>
        <p:nvSpPr>
          <p:cNvPr id="10" name="Text Box 9"/>
          <p:cNvSpPr txBox="1"/>
          <p:nvPr/>
        </p:nvSpPr>
        <p:spPr>
          <a:xfrm>
            <a:off x="0" y="103505"/>
            <a:ext cx="5399405" cy="1067435"/>
          </a:xfrm>
          <a:prstGeom prst="rect">
            <a:avLst/>
          </a:prstGeom>
          <a:noFill/>
        </p:spPr>
        <p:txBody>
          <a:bodyPr wrap="square" rtlCol="0">
            <a:noAutofit/>
          </a:bodyPr>
          <a:p>
            <a:pPr algn="ctr"/>
            <a:r>
              <a:rPr lang="en-US" altLang="en-US" sz="2400" b="1">
                <a:sym typeface="+mn-ea"/>
              </a:rPr>
              <a:t> </a:t>
            </a:r>
            <a:r>
              <a:rPr lang="en-US" altLang="en-US" sz="2800" b="1">
                <a:sym typeface="+mn-ea"/>
              </a:rPr>
              <a:t>Data Analysis &amp; Summarization</a:t>
            </a:r>
            <a:endParaRPr lang="en-US" altLang="en-US" sz="2800" b="1">
              <a:sym typeface="+mn-ea"/>
            </a:endParaRPr>
          </a:p>
          <a:p>
            <a:pPr algn="l"/>
            <a:endParaRPr lang="en-US" b="1"/>
          </a:p>
        </p:txBody>
      </p:sp>
      <p:sp>
        <p:nvSpPr>
          <p:cNvPr id="11" name="Text Box 10"/>
          <p:cNvSpPr txBox="1"/>
          <p:nvPr/>
        </p:nvSpPr>
        <p:spPr>
          <a:xfrm>
            <a:off x="444500" y="1405890"/>
            <a:ext cx="3690620" cy="2117725"/>
          </a:xfrm>
          <a:prstGeom prst="rect">
            <a:avLst/>
          </a:prstGeom>
          <a:noFill/>
        </p:spPr>
        <p:txBody>
          <a:bodyPr wrap="square" rtlCol="0">
            <a:noAutofit/>
          </a:bodyPr>
          <a:p>
            <a:pPr algn="l"/>
            <a:r>
              <a:rPr lang="en-US" altLang="en-US" sz="1000" b="1">
                <a:sym typeface="+mn-ea"/>
              </a:rPr>
              <a:t>Statistical Foundation:</a:t>
            </a:r>
            <a:r>
              <a:rPr lang="en-US" altLang="en-US" sz="1000">
                <a:sym typeface="+mn-ea"/>
              </a:rPr>
              <a:t> Established the mathematical baseline for 5,989 records, confirming a high-volumedataset with an average Revenue of $499,479 and  Visitor count of 501,016.</a:t>
            </a:r>
            <a:br>
              <a:rPr lang="en-US" altLang="en-US">
                <a:sym typeface="+mn-ea"/>
              </a:rPr>
            </a:br>
            <a:br>
              <a:rPr lang="en-US" altLang="en-US">
                <a:sym typeface="+mn-ea"/>
              </a:rPr>
            </a:br>
            <a:r>
              <a:rPr lang="en-US" altLang="en-US" sz="1000" b="1">
                <a:sym typeface="+mn-ea"/>
              </a:rPr>
              <a:t>The Volatility Discovery:</a:t>
            </a:r>
            <a:r>
              <a:rPr lang="en-US" altLang="en-US" sz="1000">
                <a:sym typeface="+mn-ea"/>
              </a:rPr>
              <a:t> While Revenue and Rating metrics showed stability, the Revenue per Visitor (KPI 6) exhibited extreme "Skyrocket" outliers (peaking near 800) that deviate from the standard Interquartile Range (IQR).replacing anomalous spikes to prevent data skewing.</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b="1"/>
              <a:t>Data Capping:Stabilizing Economic Efficiency</a:t>
            </a:r>
            <a:endParaRPr lang="en-US" altLang="en-US" b="1"/>
          </a:p>
        </p:txBody>
      </p:sp>
      <p:sp>
        <p:nvSpPr>
          <p:cNvPr id="3" name="Content Placeholder 2"/>
          <p:cNvSpPr>
            <a:spLocks noGrp="1"/>
          </p:cNvSpPr>
          <p:nvPr>
            <p:ph idx="1"/>
          </p:nvPr>
        </p:nvSpPr>
        <p:spPr>
          <a:xfrm>
            <a:off x="838200" y="1574165"/>
            <a:ext cx="10515600" cy="408940"/>
          </a:xfrm>
        </p:spPr>
        <p:txBody>
          <a:bodyPr/>
          <a:p>
            <a:r>
              <a:rPr lang="en-US" altLang="en-US" sz="1600">
                <a:sym typeface="+mn-ea"/>
              </a:rPr>
              <a:t>Treatment Strategy: Applied Winsorization to normalize KPI 6 by setting a statistical Upper Bound of 4.0</a:t>
            </a:r>
            <a:endParaRPr lang="en-US" sz="1600"/>
          </a:p>
        </p:txBody>
      </p:sp>
      <p:pic>
        <p:nvPicPr>
          <p:cNvPr id="4" name="Picture 3" descr="Screenshot 2026-02-21 184332"/>
          <p:cNvPicPr>
            <a:picLocks noChangeAspect="1"/>
          </p:cNvPicPr>
          <p:nvPr/>
        </p:nvPicPr>
        <p:blipFill>
          <a:blip r:embed="rId1"/>
          <a:srcRect t="10743" r="67641"/>
          <a:stretch>
            <a:fillRect/>
          </a:stretch>
        </p:blipFill>
        <p:spPr>
          <a:xfrm>
            <a:off x="838835" y="2063750"/>
            <a:ext cx="4961890" cy="2842895"/>
          </a:xfrm>
          <a:prstGeom prst="rect">
            <a:avLst/>
          </a:prstGeom>
        </p:spPr>
      </p:pic>
      <p:pic>
        <p:nvPicPr>
          <p:cNvPr id="5" name="Picture 4" descr="Screenshot 2026-02-21 184356"/>
          <p:cNvPicPr>
            <a:picLocks noChangeAspect="1"/>
          </p:cNvPicPr>
          <p:nvPr/>
        </p:nvPicPr>
        <p:blipFill>
          <a:blip r:embed="rId2"/>
          <a:stretch>
            <a:fillRect/>
          </a:stretch>
        </p:blipFill>
        <p:spPr>
          <a:xfrm>
            <a:off x="6591300" y="1983105"/>
            <a:ext cx="5600700" cy="2463800"/>
          </a:xfrm>
          <a:prstGeom prst="rect">
            <a:avLst/>
          </a:prstGeom>
        </p:spPr>
      </p:pic>
      <p:sp>
        <p:nvSpPr>
          <p:cNvPr id="6" name="Text Box 5"/>
          <p:cNvSpPr txBox="1"/>
          <p:nvPr/>
        </p:nvSpPr>
        <p:spPr>
          <a:xfrm>
            <a:off x="7773670" y="4749165"/>
            <a:ext cx="4025265" cy="1719580"/>
          </a:xfrm>
          <a:prstGeom prst="rect">
            <a:avLst/>
          </a:prstGeom>
        </p:spPr>
        <p:txBody>
          <a:bodyPr>
            <a:noAutofit/>
          </a:bodyPr>
          <a:p>
            <a:endParaRPr sz="1600" b="1"/>
          </a:p>
          <a:p>
            <a:r>
              <a:rPr lang="en-US" sz="1600" b="1"/>
              <a:t>Insight :</a:t>
            </a:r>
            <a:endParaRPr lang="en-US" sz="1600" b="1"/>
          </a:p>
          <a:p>
            <a:r>
              <a:rPr sz="1600" b="1"/>
              <a:t>Actionable Intelligence</a:t>
            </a:r>
            <a:r>
              <a:rPr sz="1600"/>
              <a:t>: This treatment was the final gatekeeper, ensuring that the </a:t>
            </a:r>
            <a:endParaRPr sz="1600"/>
          </a:p>
          <a:p>
            <a:endParaRPr sz="1600" b="1"/>
          </a:p>
          <a:p>
            <a:r>
              <a:rPr sz="1600" b="1"/>
              <a:t>Global Tourism Dashboard</a:t>
            </a:r>
            <a:r>
              <a:rPr sz="1600"/>
              <a:t> presents "Business Truth" rather than statistical anomalies.</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49543"/>
            <a:ext cx="10972800" cy="1143000"/>
          </a:xfrm>
        </p:spPr>
        <p:txBody>
          <a:bodyPr>
            <a:normAutofit fontScale="90000"/>
          </a:bodyPr>
          <a:p>
            <a:pPr algn="ctr"/>
            <a:br>
              <a:rPr lang="en-US" altLang="en-US" sz="3600" b="1"/>
            </a:br>
            <a:r>
              <a:rPr lang="en-US" altLang="en-US" sz="3600" b="1"/>
              <a:t>Data Summarisation and analysis using pivot table</a:t>
            </a:r>
            <a:br>
              <a:rPr lang="en-US" altLang="en-US" sz="3600" b="1"/>
            </a:br>
            <a:r>
              <a:rPr lang="en-US" altLang="en-US" sz="3600" b="1"/>
              <a:t>Dashboard</a:t>
            </a:r>
            <a:br>
              <a:rPr lang="en-US" altLang="en-US" sz="3600" b="1"/>
            </a:br>
            <a:endParaRPr lang="en-US" altLang="en-US" sz="3600" b="1"/>
          </a:p>
        </p:txBody>
      </p:sp>
      <p:pic>
        <p:nvPicPr>
          <p:cNvPr id="4" name="Content Placeholder 3" descr="Screenshot 2026-02-21 184500"/>
          <p:cNvPicPr>
            <a:picLocks noChangeAspect="1"/>
          </p:cNvPicPr>
          <p:nvPr>
            <p:ph idx="1"/>
          </p:nvPr>
        </p:nvPicPr>
        <p:blipFill>
          <a:blip r:embed="rId1"/>
          <a:srcRect t="20087" r="-45" b="3993"/>
          <a:stretch>
            <a:fillRect/>
          </a:stretch>
        </p:blipFill>
        <p:spPr>
          <a:xfrm>
            <a:off x="1249045" y="1490980"/>
            <a:ext cx="9540875" cy="5041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Key Performing Index</a:t>
            </a:r>
            <a:endParaRPr lang="en-US" b="1"/>
          </a:p>
        </p:txBody>
      </p:sp>
      <p:sp>
        <p:nvSpPr>
          <p:cNvPr id="18" name="Text Box 17"/>
          <p:cNvSpPr txBox="1"/>
          <p:nvPr/>
        </p:nvSpPr>
        <p:spPr>
          <a:xfrm>
            <a:off x="321628" y="1583690"/>
            <a:ext cx="3959225" cy="510540"/>
          </a:xfrm>
          <a:prstGeom prst="rect">
            <a:avLst/>
          </a:prstGeom>
          <a:solidFill>
            <a:schemeClr val="bg2"/>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vertOverflow="clip" horzOverflow="clip" wrap="square" rtlCol="0" anchor="t"/>
          <a:lstStyle>
            <a:defPPr>
              <a:defRPr lang="en-US">
                <a:solidFill>
                  <a:schemeClr val="dk1"/>
                </a:solidFill>
              </a:defRPr>
            </a:defPPr>
            <a:lvl1pPr marL="0" algn="l" defTabSz="914400" rtl="0" eaLnBrk="1" latinLnBrk="0" hangingPunct="1">
              <a:defRPr sz="1100">
                <a:solidFill>
                  <a:schemeClr val="dk1"/>
                </a:solidFill>
                <a:latin typeface="+mn-lt"/>
                <a:ea typeface="+mn-ea"/>
                <a:cs typeface="+mn-cs"/>
              </a:defRPr>
            </a:lvl1pPr>
            <a:lvl2pPr marL="457200" algn="l" defTabSz="914400" rtl="0" eaLnBrk="1" latinLnBrk="0" hangingPunct="1">
              <a:defRPr sz="1100">
                <a:solidFill>
                  <a:schemeClr val="dk1"/>
                </a:solidFill>
                <a:latin typeface="+mn-lt"/>
                <a:ea typeface="+mn-ea"/>
                <a:cs typeface="+mn-cs"/>
              </a:defRPr>
            </a:lvl2pPr>
            <a:lvl3pPr marL="914400" algn="l" defTabSz="914400" rtl="0" eaLnBrk="1" latinLnBrk="0" hangingPunct="1">
              <a:defRPr sz="1100">
                <a:solidFill>
                  <a:schemeClr val="dk1"/>
                </a:solidFill>
                <a:latin typeface="+mn-lt"/>
                <a:ea typeface="+mn-ea"/>
                <a:cs typeface="+mn-cs"/>
              </a:defRPr>
            </a:lvl3pPr>
            <a:lvl4pPr marL="1371600" algn="l" defTabSz="914400" rtl="0" eaLnBrk="1" latinLnBrk="0" hangingPunct="1">
              <a:defRPr sz="1100">
                <a:solidFill>
                  <a:schemeClr val="dk1"/>
                </a:solidFill>
                <a:latin typeface="+mn-lt"/>
                <a:ea typeface="+mn-ea"/>
                <a:cs typeface="+mn-cs"/>
              </a:defRPr>
            </a:lvl4pPr>
            <a:lvl5pPr marL="1828800" algn="l" defTabSz="914400" rtl="0" eaLnBrk="1" latinLnBrk="0" hangingPunct="1">
              <a:defRPr sz="1100">
                <a:solidFill>
                  <a:schemeClr val="dk1"/>
                </a:solidFill>
                <a:latin typeface="+mn-lt"/>
                <a:ea typeface="+mn-ea"/>
                <a:cs typeface="+mn-cs"/>
              </a:defRPr>
            </a:lvl5pPr>
            <a:lvl6pPr marL="2286000" algn="l" defTabSz="914400" rtl="0" eaLnBrk="1" latinLnBrk="0" hangingPunct="1">
              <a:defRPr sz="1100">
                <a:solidFill>
                  <a:schemeClr val="dk1"/>
                </a:solidFill>
                <a:latin typeface="+mn-lt"/>
                <a:ea typeface="+mn-ea"/>
                <a:cs typeface="+mn-cs"/>
              </a:defRPr>
            </a:lvl6pPr>
            <a:lvl7pPr marL="2743200" algn="l" defTabSz="914400" rtl="0" eaLnBrk="1" latinLnBrk="0" hangingPunct="1">
              <a:defRPr sz="1100">
                <a:solidFill>
                  <a:schemeClr val="dk1"/>
                </a:solidFill>
                <a:latin typeface="+mn-lt"/>
                <a:ea typeface="+mn-ea"/>
                <a:cs typeface="+mn-cs"/>
              </a:defRPr>
            </a:lvl7pPr>
            <a:lvl8pPr marL="3200400" algn="l" defTabSz="914400" rtl="0" eaLnBrk="1" latinLnBrk="0" hangingPunct="1">
              <a:defRPr sz="1100">
                <a:solidFill>
                  <a:schemeClr val="dk1"/>
                </a:solidFill>
                <a:latin typeface="+mn-lt"/>
                <a:ea typeface="+mn-ea"/>
                <a:cs typeface="+mn-cs"/>
              </a:defRPr>
            </a:lvl8pPr>
            <a:lvl9pPr marL="3657600" algn="l" defTabSz="914400" rtl="0" eaLnBrk="1" latinLnBrk="0" hangingPunct="1">
              <a:defRPr sz="1100">
                <a:solidFill>
                  <a:schemeClr val="dk1"/>
                </a:solidFill>
                <a:latin typeface="+mn-lt"/>
                <a:ea typeface="+mn-ea"/>
                <a:cs typeface="+mn-cs"/>
              </a:defRPr>
            </a:lvl9pPr>
          </a:lstStyle>
          <a:p>
            <a:pPr algn="ctr"/>
            <a:r>
              <a:rPr lang="en-US" sz="1100" b="1">
                <a:solidFill>
                  <a:srgbClr val="FF0000"/>
                </a:solidFill>
                <a:highlight>
                  <a:srgbClr val="FFFF00"/>
                </a:highlight>
              </a:rPr>
              <a:t>Revenue </a:t>
            </a:r>
            <a:endParaRPr lang="en-US" sz="1100" b="1"/>
          </a:p>
          <a:p>
            <a:pPr algn="ctr"/>
            <a:r>
              <a:rPr lang="en-US" sz="1400" b="1">
                <a:highlight>
                  <a:srgbClr val="FFFF00"/>
                </a:highlight>
              </a:rPr>
              <a:t>2,991,381,930</a:t>
            </a:r>
            <a:endParaRPr lang="en-US" sz="1100">
              <a:highlight>
                <a:srgbClr val="FFFF00"/>
              </a:highlight>
            </a:endParaRPr>
          </a:p>
          <a:p>
            <a:pPr algn="l"/>
            <a:endParaRPr lang="en-US" sz="1100"/>
          </a:p>
          <a:p>
            <a:pPr algn="l"/>
            <a:endParaRPr lang="en-US" sz="1100"/>
          </a:p>
        </p:txBody>
      </p:sp>
      <p:sp>
        <p:nvSpPr>
          <p:cNvPr id="20" name="Text Box 19"/>
          <p:cNvSpPr txBox="1"/>
          <p:nvPr/>
        </p:nvSpPr>
        <p:spPr>
          <a:xfrm>
            <a:off x="9715500" y="1490028"/>
            <a:ext cx="1160780" cy="603885"/>
          </a:xfrm>
          <a:prstGeom prst="rect">
            <a:avLst/>
          </a:prstGeom>
          <a:solidFill>
            <a:schemeClr val="bg2"/>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vertOverflow="clip" horzOverflow="clip" wrap="square" rtlCol="0" anchor="t">
            <a:noAutofit/>
          </a:bodyPr>
          <a:lstStyle>
            <a:defPPr>
              <a:defRPr lang="en-US">
                <a:solidFill>
                  <a:schemeClr val="dk1"/>
                </a:solidFill>
              </a:defRPr>
            </a:defPPr>
            <a:lvl1pPr marL="0" algn="l" defTabSz="914400" rtl="0" eaLnBrk="1" latinLnBrk="0" hangingPunct="1">
              <a:defRPr sz="1100">
                <a:solidFill>
                  <a:schemeClr val="dk1"/>
                </a:solidFill>
                <a:latin typeface="+mn-lt"/>
                <a:ea typeface="+mn-ea"/>
                <a:cs typeface="+mn-cs"/>
              </a:defRPr>
            </a:lvl1pPr>
            <a:lvl2pPr marL="457200" algn="l" defTabSz="914400" rtl="0" eaLnBrk="1" latinLnBrk="0" hangingPunct="1">
              <a:defRPr sz="1100">
                <a:solidFill>
                  <a:schemeClr val="dk1"/>
                </a:solidFill>
                <a:latin typeface="+mn-lt"/>
                <a:ea typeface="+mn-ea"/>
                <a:cs typeface="+mn-cs"/>
              </a:defRPr>
            </a:lvl2pPr>
            <a:lvl3pPr marL="914400" algn="l" defTabSz="914400" rtl="0" eaLnBrk="1" latinLnBrk="0" hangingPunct="1">
              <a:defRPr sz="1100">
                <a:solidFill>
                  <a:schemeClr val="dk1"/>
                </a:solidFill>
                <a:latin typeface="+mn-lt"/>
                <a:ea typeface="+mn-ea"/>
                <a:cs typeface="+mn-cs"/>
              </a:defRPr>
            </a:lvl3pPr>
            <a:lvl4pPr marL="1371600" algn="l" defTabSz="914400" rtl="0" eaLnBrk="1" latinLnBrk="0" hangingPunct="1">
              <a:defRPr sz="1100">
                <a:solidFill>
                  <a:schemeClr val="dk1"/>
                </a:solidFill>
                <a:latin typeface="+mn-lt"/>
                <a:ea typeface="+mn-ea"/>
                <a:cs typeface="+mn-cs"/>
              </a:defRPr>
            </a:lvl4pPr>
            <a:lvl5pPr marL="1828800" algn="l" defTabSz="914400" rtl="0" eaLnBrk="1" latinLnBrk="0" hangingPunct="1">
              <a:defRPr sz="1100">
                <a:solidFill>
                  <a:schemeClr val="dk1"/>
                </a:solidFill>
                <a:latin typeface="+mn-lt"/>
                <a:ea typeface="+mn-ea"/>
                <a:cs typeface="+mn-cs"/>
              </a:defRPr>
            </a:lvl5pPr>
            <a:lvl6pPr marL="2286000" algn="l" defTabSz="914400" rtl="0" eaLnBrk="1" latinLnBrk="0" hangingPunct="1">
              <a:defRPr sz="1100">
                <a:solidFill>
                  <a:schemeClr val="dk1"/>
                </a:solidFill>
                <a:latin typeface="+mn-lt"/>
                <a:ea typeface="+mn-ea"/>
                <a:cs typeface="+mn-cs"/>
              </a:defRPr>
            </a:lvl6pPr>
            <a:lvl7pPr marL="2743200" algn="l" defTabSz="914400" rtl="0" eaLnBrk="1" latinLnBrk="0" hangingPunct="1">
              <a:defRPr sz="1100">
                <a:solidFill>
                  <a:schemeClr val="dk1"/>
                </a:solidFill>
                <a:latin typeface="+mn-lt"/>
                <a:ea typeface="+mn-ea"/>
                <a:cs typeface="+mn-cs"/>
              </a:defRPr>
            </a:lvl7pPr>
            <a:lvl8pPr marL="3200400" algn="l" defTabSz="914400" rtl="0" eaLnBrk="1" latinLnBrk="0" hangingPunct="1">
              <a:defRPr sz="1100">
                <a:solidFill>
                  <a:schemeClr val="dk1"/>
                </a:solidFill>
                <a:latin typeface="+mn-lt"/>
                <a:ea typeface="+mn-ea"/>
                <a:cs typeface="+mn-cs"/>
              </a:defRPr>
            </a:lvl8pPr>
            <a:lvl9pPr marL="3657600" algn="l" defTabSz="914400" rtl="0" eaLnBrk="1" latinLnBrk="0" hangingPunct="1">
              <a:defRPr sz="1100">
                <a:solidFill>
                  <a:schemeClr val="dk1"/>
                </a:solidFill>
                <a:latin typeface="+mn-lt"/>
                <a:ea typeface="+mn-ea"/>
                <a:cs typeface="+mn-cs"/>
              </a:defRPr>
            </a:lvl9pPr>
          </a:lstStyle>
          <a:p>
            <a:pPr algn="ctr"/>
            <a:r>
              <a:rPr lang="en-US" sz="1100" b="1">
                <a:highlight>
                  <a:srgbClr val="FFFF00"/>
                </a:highlight>
              </a:rPr>
              <a:t>Visitors </a:t>
            </a:r>
            <a:endParaRPr lang="en-US" sz="1100">
              <a:highlight>
                <a:srgbClr val="FFFF00"/>
              </a:highlight>
            </a:endParaRPr>
          </a:p>
          <a:p>
            <a:pPr algn="ctr"/>
            <a:r>
              <a:rPr lang="en-US" sz="1400" b="1">
                <a:highlight>
                  <a:srgbClr val="FFFF00"/>
                </a:highlight>
              </a:rPr>
              <a:t>3,000,585,3</a:t>
            </a:r>
            <a:r>
              <a:rPr lang="en-US" sz="1400" b="1"/>
              <a:t>60</a:t>
            </a:r>
            <a:endParaRPr lang="en-US" sz="1100" b="1"/>
          </a:p>
          <a:p>
            <a:pPr algn="l"/>
            <a:endParaRPr lang="en-US" sz="1100" b="1"/>
          </a:p>
        </p:txBody>
      </p:sp>
      <p:sp>
        <p:nvSpPr>
          <p:cNvPr id="21" name="Text Box 20"/>
          <p:cNvSpPr txBox="1"/>
          <p:nvPr/>
        </p:nvSpPr>
        <p:spPr>
          <a:xfrm>
            <a:off x="8924608" y="3181985"/>
            <a:ext cx="3307715" cy="591820"/>
          </a:xfrm>
          <a:prstGeom prst="rect">
            <a:avLst/>
          </a:prstGeom>
          <a:solidFill>
            <a:schemeClr val="bg2"/>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vertOverflow="clip" horzOverflow="clip" wrap="square" rtlCol="0" anchor="t">
            <a:noAutofit/>
          </a:bodyPr>
          <a:lstStyle>
            <a:defPPr>
              <a:defRPr lang="en-US">
                <a:solidFill>
                  <a:schemeClr val="dk1"/>
                </a:solidFill>
              </a:defRPr>
            </a:defPPr>
            <a:lvl1pPr marL="0" algn="l" defTabSz="914400" rtl="0" eaLnBrk="1" latinLnBrk="0" hangingPunct="1">
              <a:defRPr sz="1100">
                <a:solidFill>
                  <a:schemeClr val="dk1"/>
                </a:solidFill>
                <a:latin typeface="+mn-lt"/>
                <a:ea typeface="+mn-ea"/>
                <a:cs typeface="+mn-cs"/>
              </a:defRPr>
            </a:lvl1pPr>
            <a:lvl2pPr marL="457200" algn="l" defTabSz="914400" rtl="0" eaLnBrk="1" latinLnBrk="0" hangingPunct="1">
              <a:defRPr sz="1100">
                <a:solidFill>
                  <a:schemeClr val="dk1"/>
                </a:solidFill>
                <a:latin typeface="+mn-lt"/>
                <a:ea typeface="+mn-ea"/>
                <a:cs typeface="+mn-cs"/>
              </a:defRPr>
            </a:lvl2pPr>
            <a:lvl3pPr marL="914400" algn="l" defTabSz="914400" rtl="0" eaLnBrk="1" latinLnBrk="0" hangingPunct="1">
              <a:defRPr sz="1100">
                <a:solidFill>
                  <a:schemeClr val="dk1"/>
                </a:solidFill>
                <a:latin typeface="+mn-lt"/>
                <a:ea typeface="+mn-ea"/>
                <a:cs typeface="+mn-cs"/>
              </a:defRPr>
            </a:lvl3pPr>
            <a:lvl4pPr marL="1371600" algn="l" defTabSz="914400" rtl="0" eaLnBrk="1" latinLnBrk="0" hangingPunct="1">
              <a:defRPr sz="1100">
                <a:solidFill>
                  <a:schemeClr val="dk1"/>
                </a:solidFill>
                <a:latin typeface="+mn-lt"/>
                <a:ea typeface="+mn-ea"/>
                <a:cs typeface="+mn-cs"/>
              </a:defRPr>
            </a:lvl4pPr>
            <a:lvl5pPr marL="1828800" algn="l" defTabSz="914400" rtl="0" eaLnBrk="1" latinLnBrk="0" hangingPunct="1">
              <a:defRPr sz="1100">
                <a:solidFill>
                  <a:schemeClr val="dk1"/>
                </a:solidFill>
                <a:latin typeface="+mn-lt"/>
                <a:ea typeface="+mn-ea"/>
                <a:cs typeface="+mn-cs"/>
              </a:defRPr>
            </a:lvl5pPr>
            <a:lvl6pPr marL="2286000" algn="l" defTabSz="914400" rtl="0" eaLnBrk="1" latinLnBrk="0" hangingPunct="1">
              <a:defRPr sz="1100">
                <a:solidFill>
                  <a:schemeClr val="dk1"/>
                </a:solidFill>
                <a:latin typeface="+mn-lt"/>
                <a:ea typeface="+mn-ea"/>
                <a:cs typeface="+mn-cs"/>
              </a:defRPr>
            </a:lvl6pPr>
            <a:lvl7pPr marL="2743200" algn="l" defTabSz="914400" rtl="0" eaLnBrk="1" latinLnBrk="0" hangingPunct="1">
              <a:defRPr sz="1100">
                <a:solidFill>
                  <a:schemeClr val="dk1"/>
                </a:solidFill>
                <a:latin typeface="+mn-lt"/>
                <a:ea typeface="+mn-ea"/>
                <a:cs typeface="+mn-cs"/>
              </a:defRPr>
            </a:lvl7pPr>
            <a:lvl8pPr marL="3200400" algn="l" defTabSz="914400" rtl="0" eaLnBrk="1" latinLnBrk="0" hangingPunct="1">
              <a:defRPr sz="1100">
                <a:solidFill>
                  <a:schemeClr val="dk1"/>
                </a:solidFill>
                <a:latin typeface="+mn-lt"/>
                <a:ea typeface="+mn-ea"/>
                <a:cs typeface="+mn-cs"/>
              </a:defRPr>
            </a:lvl8pPr>
            <a:lvl9pPr marL="3657600" algn="l" defTabSz="914400" rtl="0" eaLnBrk="1" latinLnBrk="0" hangingPunct="1">
              <a:defRPr sz="1100">
                <a:solidFill>
                  <a:schemeClr val="dk1"/>
                </a:solidFill>
                <a:latin typeface="+mn-lt"/>
                <a:ea typeface="+mn-ea"/>
                <a:cs typeface="+mn-cs"/>
              </a:defRPr>
            </a:lvl9pPr>
          </a:lstStyle>
          <a:p>
            <a:pPr algn="ctr"/>
            <a:r>
              <a:rPr lang="en-US" sz="1100" b="1">
                <a:highlight>
                  <a:srgbClr val="FFFF00"/>
                </a:highlight>
              </a:rPr>
              <a:t>Rating</a:t>
            </a:r>
            <a:endParaRPr lang="en-US" sz="1100" b="1">
              <a:highlight>
                <a:srgbClr val="FFFF00"/>
              </a:highlight>
            </a:endParaRPr>
          </a:p>
          <a:p>
            <a:pPr algn="ctr"/>
            <a:r>
              <a:rPr lang="en-US" sz="1400" b="1">
                <a:highlight>
                  <a:srgbClr val="FFFF00"/>
                </a:highlight>
              </a:rPr>
              <a:t>3.0</a:t>
            </a:r>
            <a:endParaRPr lang="en-US" sz="1100" b="1">
              <a:highlight>
                <a:srgbClr val="FFFF00"/>
              </a:highlight>
            </a:endParaRPr>
          </a:p>
          <a:p>
            <a:pPr algn="ctr"/>
            <a:endParaRPr lang="en-US" sz="1100" b="1">
              <a:highlight>
                <a:srgbClr val="FFFF00"/>
              </a:highlight>
            </a:endParaRPr>
          </a:p>
        </p:txBody>
      </p:sp>
      <p:sp>
        <p:nvSpPr>
          <p:cNvPr id="22" name="Text Box 21"/>
          <p:cNvSpPr txBox="1"/>
          <p:nvPr/>
        </p:nvSpPr>
        <p:spPr>
          <a:xfrm>
            <a:off x="321945" y="3127058"/>
            <a:ext cx="3783330" cy="531495"/>
          </a:xfrm>
          <a:prstGeom prst="rect">
            <a:avLst/>
          </a:prstGeom>
          <a:solidFill>
            <a:schemeClr val="bg2"/>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vertOverflow="clip" horzOverflow="clip" wrap="square" rtlCol="0" anchor="t">
            <a:noAutofit/>
          </a:bodyPr>
          <a:lstStyle>
            <a:defPPr>
              <a:defRPr lang="en-US">
                <a:solidFill>
                  <a:schemeClr val="dk1"/>
                </a:solidFill>
              </a:defRPr>
            </a:defPPr>
            <a:lvl1pPr marL="0" algn="l" defTabSz="914400" rtl="0" eaLnBrk="1" latinLnBrk="0" hangingPunct="1">
              <a:defRPr sz="1100">
                <a:solidFill>
                  <a:schemeClr val="dk1"/>
                </a:solidFill>
                <a:latin typeface="+mn-lt"/>
                <a:ea typeface="+mn-ea"/>
                <a:cs typeface="+mn-cs"/>
              </a:defRPr>
            </a:lvl1pPr>
            <a:lvl2pPr marL="457200" algn="l" defTabSz="914400" rtl="0" eaLnBrk="1" latinLnBrk="0" hangingPunct="1">
              <a:defRPr sz="1100">
                <a:solidFill>
                  <a:schemeClr val="dk1"/>
                </a:solidFill>
                <a:latin typeface="+mn-lt"/>
                <a:ea typeface="+mn-ea"/>
                <a:cs typeface="+mn-cs"/>
              </a:defRPr>
            </a:lvl2pPr>
            <a:lvl3pPr marL="914400" algn="l" defTabSz="914400" rtl="0" eaLnBrk="1" latinLnBrk="0" hangingPunct="1">
              <a:defRPr sz="1100">
                <a:solidFill>
                  <a:schemeClr val="dk1"/>
                </a:solidFill>
                <a:latin typeface="+mn-lt"/>
                <a:ea typeface="+mn-ea"/>
                <a:cs typeface="+mn-cs"/>
              </a:defRPr>
            </a:lvl3pPr>
            <a:lvl4pPr marL="1371600" algn="l" defTabSz="914400" rtl="0" eaLnBrk="1" latinLnBrk="0" hangingPunct="1">
              <a:defRPr sz="1100">
                <a:solidFill>
                  <a:schemeClr val="dk1"/>
                </a:solidFill>
                <a:latin typeface="+mn-lt"/>
                <a:ea typeface="+mn-ea"/>
                <a:cs typeface="+mn-cs"/>
              </a:defRPr>
            </a:lvl4pPr>
            <a:lvl5pPr marL="1828800" algn="l" defTabSz="914400" rtl="0" eaLnBrk="1" latinLnBrk="0" hangingPunct="1">
              <a:defRPr sz="1100">
                <a:solidFill>
                  <a:schemeClr val="dk1"/>
                </a:solidFill>
                <a:latin typeface="+mn-lt"/>
                <a:ea typeface="+mn-ea"/>
                <a:cs typeface="+mn-cs"/>
              </a:defRPr>
            </a:lvl5pPr>
            <a:lvl6pPr marL="2286000" algn="l" defTabSz="914400" rtl="0" eaLnBrk="1" latinLnBrk="0" hangingPunct="1">
              <a:defRPr sz="1100">
                <a:solidFill>
                  <a:schemeClr val="dk1"/>
                </a:solidFill>
                <a:latin typeface="+mn-lt"/>
                <a:ea typeface="+mn-ea"/>
                <a:cs typeface="+mn-cs"/>
              </a:defRPr>
            </a:lvl6pPr>
            <a:lvl7pPr marL="2743200" algn="l" defTabSz="914400" rtl="0" eaLnBrk="1" latinLnBrk="0" hangingPunct="1">
              <a:defRPr sz="1100">
                <a:solidFill>
                  <a:schemeClr val="dk1"/>
                </a:solidFill>
                <a:latin typeface="+mn-lt"/>
                <a:ea typeface="+mn-ea"/>
                <a:cs typeface="+mn-cs"/>
              </a:defRPr>
            </a:lvl7pPr>
            <a:lvl8pPr marL="3200400" algn="l" defTabSz="914400" rtl="0" eaLnBrk="1" latinLnBrk="0" hangingPunct="1">
              <a:defRPr sz="1100">
                <a:solidFill>
                  <a:schemeClr val="dk1"/>
                </a:solidFill>
                <a:latin typeface="+mn-lt"/>
                <a:ea typeface="+mn-ea"/>
                <a:cs typeface="+mn-cs"/>
              </a:defRPr>
            </a:lvl8pPr>
            <a:lvl9pPr marL="3657600" algn="l" defTabSz="914400" rtl="0" eaLnBrk="1" latinLnBrk="0" hangingPunct="1">
              <a:defRPr sz="1100">
                <a:solidFill>
                  <a:schemeClr val="dk1"/>
                </a:solidFill>
                <a:latin typeface="+mn-lt"/>
                <a:ea typeface="+mn-ea"/>
                <a:cs typeface="+mn-cs"/>
              </a:defRPr>
            </a:lvl9pPr>
          </a:lstStyle>
          <a:p>
            <a:pPr algn="ctr"/>
            <a:r>
              <a:rPr lang="en-US" sz="1100" b="1">
                <a:highlight>
                  <a:srgbClr val="FFFF00"/>
                </a:highlight>
              </a:rPr>
              <a:t>Revenue_per_visitor</a:t>
            </a:r>
            <a:endParaRPr lang="en-US" sz="1100">
              <a:highlight>
                <a:srgbClr val="FFFF00"/>
              </a:highlight>
            </a:endParaRPr>
          </a:p>
          <a:p>
            <a:pPr algn="ctr"/>
            <a:r>
              <a:rPr lang="en-US" sz="1400" b="1">
                <a:highlight>
                  <a:srgbClr val="FFFF00"/>
                </a:highlight>
              </a:rPr>
              <a:t>3.62429514</a:t>
            </a:r>
            <a:endParaRPr lang="en-US" sz="1100">
              <a:highlight>
                <a:srgbClr val="FFFF00"/>
              </a:highlight>
            </a:endParaRPr>
          </a:p>
          <a:p>
            <a:pPr algn="l"/>
            <a:endParaRPr lang="en-US" sz="1100">
              <a:highlight>
                <a:srgbClr val="FFFF00"/>
              </a:highlight>
            </a:endParaRPr>
          </a:p>
        </p:txBody>
      </p:sp>
      <p:sp>
        <p:nvSpPr>
          <p:cNvPr id="7" name="Text Box 6"/>
          <p:cNvSpPr txBox="1"/>
          <p:nvPr/>
        </p:nvSpPr>
        <p:spPr>
          <a:xfrm>
            <a:off x="4376420" y="1417955"/>
            <a:ext cx="4453255" cy="4119245"/>
          </a:xfrm>
          <a:prstGeom prst="rect">
            <a:avLst/>
          </a:prstGeom>
        </p:spPr>
        <p:txBody>
          <a:bodyPr>
            <a:noAutofit/>
          </a:bodyPr>
          <a:p>
            <a:r>
              <a:rPr sz="1600" b="1"/>
              <a:t>Total Revenue ($2.99 Billion)</a:t>
            </a:r>
            <a:r>
              <a:rPr sz="1600"/>
              <a:t>: Aggregated global earnings across 5,989 records, representing a robust and diversified income portfolio.</a:t>
            </a:r>
            <a:endParaRPr sz="1600"/>
          </a:p>
          <a:p>
            <a:r>
              <a:rPr sz="1600" b="1"/>
              <a:t>Visitor Footfall (3 Billion+)</a:t>
            </a:r>
            <a:r>
              <a:rPr sz="1600"/>
              <a:t>: Massive collective reach indicating high global demand and market penetration across all surveyed countries.</a:t>
            </a:r>
            <a:endParaRPr sz="1600"/>
          </a:p>
          <a:p>
            <a:r>
              <a:rPr sz="1600" b="1"/>
              <a:t>Satisfaction Index (3.0)</a:t>
            </a:r>
            <a:r>
              <a:rPr sz="1600"/>
              <a:t>: A stable quality benchmark showing consistent service standards maintained across diverse tourism categories.</a:t>
            </a:r>
            <a:endParaRPr sz="1600"/>
          </a:p>
          <a:p>
            <a:r>
              <a:rPr sz="1600" b="1"/>
              <a:t>Economic Efficiency (3.62 Revenue/Visitor)</a:t>
            </a:r>
            <a:r>
              <a:rPr sz="1600"/>
              <a:t>: A normalized yield metric, achieved after outlier treatment, providing a realistic view of average visitor value.</a:t>
            </a:r>
            <a:endParaRPr sz="1600"/>
          </a:p>
        </p:txBody>
      </p:sp>
      <p:sp>
        <p:nvSpPr>
          <p:cNvPr id="8" name="Text Box 7"/>
          <p:cNvSpPr txBox="1"/>
          <p:nvPr/>
        </p:nvSpPr>
        <p:spPr>
          <a:xfrm>
            <a:off x="232410" y="5368290"/>
            <a:ext cx="5288280" cy="1132840"/>
          </a:xfrm>
          <a:prstGeom prst="rect">
            <a:avLst/>
          </a:prstGeom>
        </p:spPr>
        <p:txBody>
          <a:bodyPr>
            <a:noAutofit/>
          </a:bodyPr>
          <a:p>
            <a:r>
              <a:rPr lang="en-US" sz="1600" b="1"/>
              <a:t>Insight :</a:t>
            </a:r>
            <a:r>
              <a:rPr sz="1600"/>
              <a:t>These KPIs serve as the "Global Pulse," allowing stakeholders to identify which regions are underperforming in revenue relative to their massive visitor footfall.</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sz="2400" b="1"/>
              <a:t>Revenue Contribution Analysis </a:t>
            </a:r>
            <a:br>
              <a:rPr lang="en-US" altLang="en-US" sz="2400"/>
            </a:br>
            <a:r>
              <a:rPr lang="en-US" altLang="en-US" sz="2000"/>
              <a:t>Headline: Mapping Financial Drivers by Tourism Category</a:t>
            </a:r>
            <a:endParaRPr lang="en-US" altLang="en-US" sz="2000"/>
          </a:p>
        </p:txBody>
      </p:sp>
      <p:pic>
        <p:nvPicPr>
          <p:cNvPr id="4" name="Content Placeholder 3" descr="Screenshot 2026-02-21 184606"/>
          <p:cNvPicPr>
            <a:picLocks noChangeAspect="1"/>
          </p:cNvPicPr>
          <p:nvPr>
            <p:ph idx="1"/>
          </p:nvPr>
        </p:nvPicPr>
        <p:blipFill>
          <a:blip r:embed="rId1"/>
          <a:srcRect t="24197" r="29875"/>
          <a:stretch>
            <a:fillRect/>
          </a:stretch>
        </p:blipFill>
        <p:spPr>
          <a:xfrm>
            <a:off x="262255" y="1556385"/>
            <a:ext cx="3206115" cy="2158365"/>
          </a:xfrm>
          <a:prstGeom prst="rect">
            <a:avLst/>
          </a:prstGeom>
        </p:spPr>
      </p:pic>
      <p:pic>
        <p:nvPicPr>
          <p:cNvPr id="5" name="Picture 4" descr="Screenshot 2026-02-21 184925"/>
          <p:cNvPicPr>
            <a:picLocks noChangeAspect="1"/>
          </p:cNvPicPr>
          <p:nvPr/>
        </p:nvPicPr>
        <p:blipFill>
          <a:blip r:embed="rId2"/>
          <a:stretch>
            <a:fillRect/>
          </a:stretch>
        </p:blipFill>
        <p:spPr>
          <a:xfrm>
            <a:off x="405765" y="3999230"/>
            <a:ext cx="3062605" cy="2179320"/>
          </a:xfrm>
          <a:prstGeom prst="rect">
            <a:avLst/>
          </a:prstGeom>
        </p:spPr>
      </p:pic>
      <p:sp>
        <p:nvSpPr>
          <p:cNvPr id="6" name="Text Box 5"/>
          <p:cNvSpPr txBox="1"/>
          <p:nvPr/>
        </p:nvSpPr>
        <p:spPr>
          <a:xfrm>
            <a:off x="6012815" y="1556385"/>
            <a:ext cx="5080000" cy="3102610"/>
          </a:xfrm>
          <a:prstGeom prst="rect">
            <a:avLst/>
          </a:prstGeom>
        </p:spPr>
        <p:txBody>
          <a:bodyPr>
            <a:noAutofit/>
          </a:bodyPr>
          <a:p>
            <a:r>
              <a:rPr sz="1600" b="1"/>
              <a:t>Aggregation Method</a:t>
            </a:r>
            <a:r>
              <a:rPr sz="1600"/>
              <a:t>: Utilized </a:t>
            </a:r>
            <a:r>
              <a:rPr lang="en-US" sz="1600"/>
              <a:t>data </a:t>
            </a:r>
            <a:r>
              <a:rPr sz="1600"/>
              <a:t> to categorize </a:t>
            </a:r>
            <a:r>
              <a:rPr sz="1600" b="1"/>
              <a:t>$2.99 Billion</a:t>
            </a:r>
            <a:r>
              <a:rPr sz="1600"/>
              <a:t> in total revenue across five core segments.</a:t>
            </a:r>
            <a:endParaRPr sz="1600"/>
          </a:p>
          <a:p>
            <a:r>
              <a:rPr sz="1600" b="1"/>
              <a:t>The Market Leader</a:t>
            </a:r>
            <a:r>
              <a:rPr sz="1600"/>
              <a:t>: </a:t>
            </a:r>
            <a:r>
              <a:rPr sz="1600" b="1"/>
              <a:t>Cultural Tourism</a:t>
            </a:r>
            <a:r>
              <a:rPr sz="1600"/>
              <a:t> emerged as the primary revenue engine, contributing over </a:t>
            </a:r>
            <a:r>
              <a:rPr sz="1600" b="1"/>
              <a:t>$1 Billion</a:t>
            </a:r>
            <a:r>
              <a:rPr sz="1600"/>
              <a:t> to the global total.</a:t>
            </a:r>
            <a:endParaRPr sz="1600"/>
          </a:p>
          <a:p>
            <a:r>
              <a:rPr sz="1600" b="1"/>
              <a:t>Secondary Drivers</a:t>
            </a:r>
            <a:r>
              <a:rPr sz="1600"/>
              <a:t>: </a:t>
            </a:r>
            <a:r>
              <a:rPr sz="1600" b="1"/>
              <a:t>Beach</a:t>
            </a:r>
            <a:r>
              <a:rPr sz="1600"/>
              <a:t> and </a:t>
            </a:r>
            <a:r>
              <a:rPr sz="1600" b="1"/>
              <a:t>Nature</a:t>
            </a:r>
            <a:r>
              <a:rPr sz="1600"/>
              <a:t> tourism showed strong, consistent performance, each maintaining significant market share.</a:t>
            </a:r>
            <a:endParaRPr sz="1600"/>
          </a:p>
          <a:p>
            <a:r>
              <a:rPr sz="1600" b="1"/>
              <a:t>Segment Stability</a:t>
            </a:r>
            <a:r>
              <a:rPr sz="1600"/>
              <a:t>: Despite different themes, all categories maintained a healthy distribution, proving a diversified global tourism portfolio.</a:t>
            </a:r>
            <a:endParaRPr sz="1600"/>
          </a:p>
        </p:txBody>
      </p:sp>
      <p:sp>
        <p:nvSpPr>
          <p:cNvPr id="7" name="Text Box 6"/>
          <p:cNvSpPr txBox="1"/>
          <p:nvPr/>
        </p:nvSpPr>
        <p:spPr>
          <a:xfrm>
            <a:off x="3943350" y="5449570"/>
            <a:ext cx="5080000" cy="1059180"/>
          </a:xfrm>
          <a:prstGeom prst="rect">
            <a:avLst/>
          </a:prstGeom>
        </p:spPr>
        <p:txBody>
          <a:bodyPr>
            <a:noAutofit/>
          </a:bodyPr>
          <a:p>
            <a:r>
              <a:rPr sz="1600" b="1"/>
              <a:t>Actionable Growth</a:t>
            </a:r>
            <a:r>
              <a:rPr sz="1600"/>
              <a:t>: To maximize future earnings, focus should remain on "Premium Cultural Experiences," as this segment shows the highest willingness to spend.</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sz="3555" b="1"/>
              <a:t>Visitor Density Analysis </a:t>
            </a:r>
            <a:br>
              <a:rPr lang="en-US" altLang="en-US" sz="3555" b="1"/>
            </a:br>
            <a:r>
              <a:rPr lang="en-US" altLang="en-US" sz="1800"/>
              <a:t>Headline: Global Footfall Leaders &amp; Market Penetration</a:t>
            </a:r>
            <a:endParaRPr lang="en-US" altLang="en-US" sz="1800"/>
          </a:p>
        </p:txBody>
      </p:sp>
      <p:pic>
        <p:nvPicPr>
          <p:cNvPr id="4" name="Content Placeholder 3" descr="Screenshot 2026-02-21 184946"/>
          <p:cNvPicPr>
            <a:picLocks noChangeAspect="1"/>
          </p:cNvPicPr>
          <p:nvPr>
            <p:ph idx="1"/>
          </p:nvPr>
        </p:nvPicPr>
        <p:blipFill>
          <a:blip r:embed="rId1"/>
          <a:srcRect t="16577"/>
          <a:stretch>
            <a:fillRect/>
          </a:stretch>
        </p:blipFill>
        <p:spPr>
          <a:xfrm>
            <a:off x="6610350" y="3923665"/>
            <a:ext cx="4572000" cy="2665095"/>
          </a:xfrm>
          <a:prstGeom prst="rect">
            <a:avLst/>
          </a:prstGeom>
        </p:spPr>
      </p:pic>
      <p:pic>
        <p:nvPicPr>
          <p:cNvPr id="5" name="Picture 4" descr="Screenshot 2026-02-21 184625"/>
          <p:cNvPicPr>
            <a:picLocks noChangeAspect="1"/>
          </p:cNvPicPr>
          <p:nvPr/>
        </p:nvPicPr>
        <p:blipFill>
          <a:blip r:embed="rId2"/>
          <a:srcRect l="11264" t="18576" r="5500"/>
          <a:stretch>
            <a:fillRect/>
          </a:stretch>
        </p:blipFill>
        <p:spPr>
          <a:xfrm>
            <a:off x="877570" y="4305935"/>
            <a:ext cx="3805555" cy="2214880"/>
          </a:xfrm>
          <a:prstGeom prst="rect">
            <a:avLst/>
          </a:prstGeom>
        </p:spPr>
      </p:pic>
      <p:sp>
        <p:nvSpPr>
          <p:cNvPr id="6" name="Text Box 5"/>
          <p:cNvSpPr txBox="1"/>
          <p:nvPr/>
        </p:nvSpPr>
        <p:spPr>
          <a:xfrm>
            <a:off x="554990" y="1563370"/>
            <a:ext cx="5080000" cy="2432050"/>
          </a:xfrm>
          <a:prstGeom prst="rect">
            <a:avLst/>
          </a:prstGeom>
        </p:spPr>
        <p:txBody>
          <a:bodyPr>
            <a:noAutofit/>
          </a:bodyPr>
          <a:p>
            <a:r>
              <a:rPr sz="1600" b="1"/>
              <a:t>Market Anchor</a:t>
            </a:r>
            <a:r>
              <a:rPr sz="1600"/>
              <a:t>: </a:t>
            </a:r>
            <a:r>
              <a:rPr sz="1600" b="1"/>
              <a:t>Egypt</a:t>
            </a:r>
            <a:r>
              <a:rPr sz="1600"/>
              <a:t> leads the global landscape, contributing significantly to the total </a:t>
            </a:r>
            <a:r>
              <a:rPr lang="en-US" sz="1600"/>
              <a:t>4</a:t>
            </a:r>
            <a:r>
              <a:rPr sz="1600" b="1"/>
              <a:t> Billion</a:t>
            </a:r>
            <a:r>
              <a:rPr sz="1600"/>
              <a:t> visitor footfall.</a:t>
            </a:r>
            <a:endParaRPr sz="1600"/>
          </a:p>
          <a:p>
            <a:r>
              <a:rPr sz="1600" b="1"/>
              <a:t>Regional Distribution</a:t>
            </a:r>
            <a:r>
              <a:rPr sz="1600"/>
              <a:t>: High-volume clusters identified in </a:t>
            </a:r>
            <a:r>
              <a:rPr sz="1600" b="1"/>
              <a:t>China, Brazil, and India</a:t>
            </a:r>
            <a:r>
              <a:rPr sz="1600"/>
              <a:t>, showing a shift toward emerging market dominance.</a:t>
            </a:r>
            <a:endParaRPr sz="1600"/>
          </a:p>
          <a:p>
            <a:r>
              <a:rPr sz="1600" b="1"/>
              <a:t>Volume Stability</a:t>
            </a:r>
            <a:r>
              <a:rPr sz="1600"/>
              <a:t>: Despite the massive scale of </a:t>
            </a:r>
            <a:r>
              <a:rPr sz="1600" b="1"/>
              <a:t>501,016 average visitors</a:t>
            </a:r>
            <a:r>
              <a:rPr sz="1600"/>
              <a:t> per destination, the distribution remains consistent across the top 10 countries.</a:t>
            </a:r>
            <a:endParaRPr sz="1600"/>
          </a:p>
        </p:txBody>
      </p:sp>
      <p:sp>
        <p:nvSpPr>
          <p:cNvPr id="7" name="Text Box 6"/>
          <p:cNvSpPr txBox="1"/>
          <p:nvPr/>
        </p:nvSpPr>
        <p:spPr>
          <a:xfrm>
            <a:off x="6849110" y="1563370"/>
            <a:ext cx="5080000" cy="2100580"/>
          </a:xfrm>
          <a:prstGeom prst="rect">
            <a:avLst/>
          </a:prstGeom>
        </p:spPr>
        <p:txBody>
          <a:bodyPr>
            <a:noAutofit/>
          </a:bodyPr>
          <a:p>
            <a:r>
              <a:rPr sz="1600" b="1"/>
              <a:t>Business Insight:</a:t>
            </a:r>
            <a:endParaRPr sz="1600" b="1"/>
          </a:p>
          <a:p>
            <a:pPr>
              <a:buFont typeface="Arial" panose="020B0604020202020204"/>
              <a:buChar char="•"/>
            </a:pPr>
            <a:r>
              <a:rPr sz="1600" b="1"/>
              <a:t>Scale Capability</a:t>
            </a:r>
            <a:r>
              <a:rPr sz="1600"/>
              <a:t>: The data proves that infrastructure in these top regions is successfully handling "Mass Tourism".</a:t>
            </a:r>
            <a:endParaRPr sz="1600"/>
          </a:p>
          <a:p>
            <a:pPr>
              <a:buFont typeface="Arial" panose="020B0604020202020204"/>
              <a:buChar char="•"/>
            </a:pPr>
            <a:r>
              <a:rPr sz="1600" b="1"/>
              <a:t>Opportunity</a:t>
            </a:r>
            <a:r>
              <a:rPr sz="1600"/>
              <a:t>: Regions with high visitor counts but lower revenue rankings (like Egypt vs. China) should be the primary focus for up-selling premium tourism packages.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sz="3555"/>
              <a:t>Satisfaction </a:t>
            </a:r>
            <a:r>
              <a:rPr lang="en-US" altLang="en-US" sz="4000"/>
              <a:t>Index </a:t>
            </a:r>
            <a:r>
              <a:rPr lang="en-US" altLang="en-US" sz="3555"/>
              <a:t>&amp; Quality Standards </a:t>
            </a:r>
            <a:br>
              <a:rPr lang="en-US" altLang="en-US" sz="3555"/>
            </a:br>
            <a:r>
              <a:rPr lang="en-US" altLang="en-US" sz="1780"/>
              <a:t>Headline: Global Quality Benchmarking &amp; Service Excellence</a:t>
            </a:r>
            <a:endParaRPr lang="en-US" altLang="en-US" sz="1780"/>
          </a:p>
        </p:txBody>
      </p:sp>
      <p:pic>
        <p:nvPicPr>
          <p:cNvPr id="5" name="Content Placeholder 4" descr="Screenshot 2026-02-21 185024"/>
          <p:cNvPicPr>
            <a:picLocks noChangeAspect="1"/>
          </p:cNvPicPr>
          <p:nvPr>
            <p:ph idx="1"/>
          </p:nvPr>
        </p:nvPicPr>
        <p:blipFill>
          <a:blip r:embed="rId1"/>
          <a:stretch>
            <a:fillRect/>
          </a:stretch>
        </p:blipFill>
        <p:spPr>
          <a:xfrm>
            <a:off x="474980" y="1417955"/>
            <a:ext cx="2949575" cy="2233295"/>
          </a:xfrm>
          <a:prstGeom prst="rect">
            <a:avLst/>
          </a:prstGeom>
        </p:spPr>
      </p:pic>
      <p:pic>
        <p:nvPicPr>
          <p:cNvPr id="6" name="Picture 5" descr="Screenshot 2026-02-21 184641"/>
          <p:cNvPicPr>
            <a:picLocks noChangeAspect="1"/>
          </p:cNvPicPr>
          <p:nvPr/>
        </p:nvPicPr>
        <p:blipFill>
          <a:blip r:embed="rId2"/>
          <a:srcRect l="17894" t="21267" r="15630"/>
          <a:stretch>
            <a:fillRect/>
          </a:stretch>
        </p:blipFill>
        <p:spPr>
          <a:xfrm>
            <a:off x="8299450" y="4339590"/>
            <a:ext cx="2870835" cy="1861820"/>
          </a:xfrm>
          <a:prstGeom prst="rect">
            <a:avLst/>
          </a:prstGeom>
        </p:spPr>
      </p:pic>
      <p:sp>
        <p:nvSpPr>
          <p:cNvPr id="7" name="Text Box 6"/>
          <p:cNvSpPr txBox="1"/>
          <p:nvPr/>
        </p:nvSpPr>
        <p:spPr>
          <a:xfrm>
            <a:off x="5897880" y="1784350"/>
            <a:ext cx="5080000" cy="2555875"/>
          </a:xfrm>
          <a:prstGeom prst="rect">
            <a:avLst/>
          </a:prstGeom>
        </p:spPr>
        <p:txBody>
          <a:bodyPr>
            <a:noAutofit/>
          </a:bodyPr>
          <a:p>
            <a:r>
              <a:rPr sz="1600" b="1"/>
              <a:t>Quality Metric</a:t>
            </a:r>
            <a:r>
              <a:rPr sz="1600"/>
              <a:t>: The global average rating holds steady at </a:t>
            </a:r>
            <a:r>
              <a:rPr sz="1600" b="1"/>
              <a:t>3.0</a:t>
            </a:r>
            <a:r>
              <a:rPr sz="1600"/>
              <a:t>, reflecting a reliable "Standard Class" experience across 5,989 records.</a:t>
            </a:r>
            <a:endParaRPr sz="1600"/>
          </a:p>
          <a:p>
            <a:r>
              <a:rPr sz="1600" b="1"/>
              <a:t>Category Leader</a:t>
            </a:r>
            <a:r>
              <a:rPr sz="1600"/>
              <a:t>: </a:t>
            </a:r>
            <a:r>
              <a:rPr sz="1600" b="1"/>
              <a:t>Beach Tourism</a:t>
            </a:r>
            <a:r>
              <a:rPr sz="1600"/>
              <a:t> emerged as the satisfaction benchmark (3.07), suggesting superior service delivery in coastal destinations.</a:t>
            </a:r>
            <a:endParaRPr sz="1600"/>
          </a:p>
          <a:p>
            <a:r>
              <a:rPr sz="1600" b="1"/>
              <a:t>Consistency Check</a:t>
            </a:r>
            <a:r>
              <a:rPr sz="1600"/>
              <a:t>: Outlier detection confirmed that extreme service failures are rare, with most destinations operating within a healthy </a:t>
            </a:r>
            <a:r>
              <a:rPr sz="1600" b="1"/>
              <a:t>2.0 to 4.0</a:t>
            </a:r>
            <a:r>
              <a:rPr sz="1600"/>
              <a:t> rating range.</a:t>
            </a:r>
            <a:endParaRPr sz="1600"/>
          </a:p>
        </p:txBody>
      </p:sp>
      <p:sp>
        <p:nvSpPr>
          <p:cNvPr id="8" name="Text Box 7"/>
          <p:cNvSpPr txBox="1"/>
          <p:nvPr/>
        </p:nvSpPr>
        <p:spPr>
          <a:xfrm>
            <a:off x="544830" y="4091305"/>
            <a:ext cx="5080000" cy="2358390"/>
          </a:xfrm>
          <a:prstGeom prst="rect">
            <a:avLst/>
          </a:prstGeom>
        </p:spPr>
        <p:txBody>
          <a:bodyPr>
            <a:noAutofit/>
          </a:bodyPr>
          <a:p>
            <a:r>
              <a:rPr sz="1600" b="1"/>
              <a:t>Business Insight:</a:t>
            </a:r>
            <a:endParaRPr sz="1600" b="1"/>
          </a:p>
          <a:p>
            <a:pPr>
              <a:buFont typeface="Arial" panose="020B0604020202020204"/>
              <a:buChar char="•"/>
            </a:pPr>
            <a:r>
              <a:rPr sz="1600" b="1"/>
              <a:t>Service Resilience</a:t>
            </a:r>
            <a:r>
              <a:rPr sz="1600"/>
              <a:t>: Maintaining a </a:t>
            </a:r>
            <a:r>
              <a:rPr sz="1600" b="1"/>
              <a:t>3.0 rating</a:t>
            </a:r>
            <a:r>
              <a:rPr sz="1600"/>
              <a:t> while hosting </a:t>
            </a:r>
            <a:r>
              <a:rPr sz="1600" b="1"/>
              <a:t>3 Billion visitors</a:t>
            </a:r>
            <a:r>
              <a:rPr sz="1600"/>
              <a:t> is a sign of operational maturity; mass volume is not degrading the visitor experience.</a:t>
            </a:r>
            <a:endParaRPr sz="1600"/>
          </a:p>
          <a:p>
            <a:pPr>
              <a:buFont typeface="Arial" panose="020B0604020202020204"/>
              <a:buChar char="•"/>
            </a:pPr>
            <a:r>
              <a:rPr sz="1600" b="1"/>
              <a:t>Growth Lever</a:t>
            </a:r>
            <a:r>
              <a:rPr sz="1600"/>
              <a:t>: Improving the global average from 3.0 to 3.5 could unlock significant "Repeat Visitor" revenue, especially in the Cultural and Nature segments.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17415" y="274955"/>
            <a:ext cx="6864985" cy="1143000"/>
          </a:xfrm>
        </p:spPr>
        <p:txBody>
          <a:bodyPr>
            <a:normAutofit/>
          </a:bodyPr>
          <a:p>
            <a:pPr algn="ctr"/>
            <a:r>
              <a:rPr lang="en-US" altLang="en-US" sz="4000"/>
              <a:t>Regional Revenue Density</a:t>
            </a:r>
            <a:br>
              <a:rPr lang="en-US" altLang="en-US" sz="4000"/>
            </a:br>
            <a:r>
              <a:rPr lang="en-US" altLang="en-US" sz="1600"/>
              <a:t>Headline: Mapping Financial Yield per Destination</a:t>
            </a:r>
            <a:endParaRPr lang="en-US" altLang="en-US" sz="1600"/>
          </a:p>
        </p:txBody>
      </p:sp>
      <p:pic>
        <p:nvPicPr>
          <p:cNvPr id="4" name="Content Placeholder 3" descr="Screenshot 2026-02-21 184657"/>
          <p:cNvPicPr>
            <a:picLocks noChangeAspect="1"/>
          </p:cNvPicPr>
          <p:nvPr>
            <p:ph idx="1"/>
          </p:nvPr>
        </p:nvPicPr>
        <p:blipFill>
          <a:blip r:embed="rId1"/>
          <a:srcRect t="16638" r="30100" b="9628"/>
          <a:stretch>
            <a:fillRect/>
          </a:stretch>
        </p:blipFill>
        <p:spPr>
          <a:xfrm>
            <a:off x="4498975" y="2414270"/>
            <a:ext cx="2787015" cy="1609725"/>
          </a:xfrm>
          <a:prstGeom prst="rect">
            <a:avLst/>
          </a:prstGeom>
        </p:spPr>
      </p:pic>
      <p:pic>
        <p:nvPicPr>
          <p:cNvPr id="6" name="Picture 5" descr="Screenshot 2026-02-21 185042"/>
          <p:cNvPicPr>
            <a:picLocks noChangeAspect="1"/>
          </p:cNvPicPr>
          <p:nvPr/>
        </p:nvPicPr>
        <p:blipFill>
          <a:blip r:embed="rId2"/>
          <a:stretch>
            <a:fillRect/>
          </a:stretch>
        </p:blipFill>
        <p:spPr>
          <a:xfrm>
            <a:off x="228600" y="1224280"/>
            <a:ext cx="3998595" cy="3006090"/>
          </a:xfrm>
          <a:prstGeom prst="rect">
            <a:avLst/>
          </a:prstGeom>
        </p:spPr>
      </p:pic>
      <p:sp>
        <p:nvSpPr>
          <p:cNvPr id="7" name="Text Box 6"/>
          <p:cNvSpPr txBox="1"/>
          <p:nvPr/>
        </p:nvSpPr>
        <p:spPr>
          <a:xfrm>
            <a:off x="7400925" y="1845945"/>
            <a:ext cx="4505960" cy="4579620"/>
          </a:xfrm>
          <a:prstGeom prst="rect">
            <a:avLst/>
          </a:prstGeom>
        </p:spPr>
        <p:txBody>
          <a:bodyPr wrap="square">
            <a:noAutofit/>
          </a:bodyPr>
          <a:p>
            <a:r>
              <a:rPr sz="1600" b="1"/>
              <a:t>Aggregation Insight</a:t>
            </a:r>
            <a:r>
              <a:rPr sz="1600"/>
              <a:t>: Analyzed the average revenue generated per specific location to identify "High-Value" clusters within the </a:t>
            </a:r>
            <a:r>
              <a:rPr sz="1600" b="1"/>
              <a:t>$2.99 Billion</a:t>
            </a:r>
            <a:r>
              <a:rPr sz="1600"/>
              <a:t> global total.</a:t>
            </a:r>
            <a:endParaRPr sz="1600"/>
          </a:p>
          <a:p>
            <a:r>
              <a:rPr sz="1600" b="1"/>
              <a:t>Leading Destination</a:t>
            </a:r>
            <a:r>
              <a:rPr sz="1600"/>
              <a:t>: </a:t>
            </a:r>
            <a:r>
              <a:rPr sz="1600" b="1"/>
              <a:t>Cultural sites in China</a:t>
            </a:r>
            <a:r>
              <a:rPr sz="1600"/>
              <a:t> emerged as the top revenue generators per unit, balancing high visitor interest with premium spend.</a:t>
            </a:r>
            <a:endParaRPr sz="1600"/>
          </a:p>
          <a:p>
            <a:r>
              <a:rPr sz="1600" b="1"/>
              <a:t>Secondary Market Strength</a:t>
            </a:r>
            <a:r>
              <a:rPr sz="1600"/>
              <a:t>: Destination-specific audits in </a:t>
            </a:r>
            <a:r>
              <a:rPr sz="1600" b="1"/>
              <a:t>Brazil and France</a:t>
            </a:r>
            <a:r>
              <a:rPr sz="1600"/>
              <a:t> show strong revenue consistency, proving these regions are "Safe Havens" for tourism investment.</a:t>
            </a:r>
            <a:endParaRPr sz="1600"/>
          </a:p>
          <a:p>
            <a:r>
              <a:rPr sz="1600" b="1"/>
              <a:t>Performance Variance</a:t>
            </a:r>
            <a:r>
              <a:rPr sz="1600"/>
              <a:t>: While </a:t>
            </a:r>
            <a:r>
              <a:rPr sz="1600" b="1"/>
              <a:t>Egypt</a:t>
            </a:r>
            <a:r>
              <a:rPr sz="1600"/>
              <a:t> leads in total volume, its revenue </a:t>
            </a:r>
            <a:r>
              <a:rPr sz="1600" i="1"/>
              <a:t>per destination</a:t>
            </a:r>
            <a:r>
              <a:rPr sz="1600"/>
              <a:t> is lower than China’s, suggesting a high-volume/low-margin business model.</a:t>
            </a:r>
            <a:endParaRPr sz="1600"/>
          </a:p>
        </p:txBody>
      </p:sp>
      <p:sp>
        <p:nvSpPr>
          <p:cNvPr id="8" name="Text Box 7"/>
          <p:cNvSpPr txBox="1"/>
          <p:nvPr/>
        </p:nvSpPr>
        <p:spPr>
          <a:xfrm>
            <a:off x="358140" y="4867275"/>
            <a:ext cx="5080000" cy="1322070"/>
          </a:xfrm>
          <a:prstGeom prst="rect">
            <a:avLst/>
          </a:prstGeom>
        </p:spPr>
        <p:txBody>
          <a:bodyPr>
            <a:spAutoFit/>
          </a:bodyPr>
          <a:p>
            <a:r>
              <a:rPr sz="1600" b="1"/>
              <a:t>Business Insight:</a:t>
            </a:r>
            <a:endParaRPr sz="1600" b="1"/>
          </a:p>
          <a:p>
            <a:pPr>
              <a:buFont typeface="Arial" panose="020B0604020202020204"/>
              <a:buChar char="•"/>
            </a:pPr>
            <a:r>
              <a:rPr sz="1600" b="1"/>
              <a:t>Strategic Shift</a:t>
            </a:r>
            <a:r>
              <a:rPr sz="1600"/>
              <a:t>: To maximize ROI, tourism boards should transition from measuring "Total Success" to "Revenue Density"—prioritizing quality of spend over sheer quantity of visitors.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320800"/>
          </a:xfrm>
        </p:spPr>
        <p:txBody>
          <a:bodyPr>
            <a:normAutofit/>
          </a:bodyPr>
          <a:p>
            <a:r>
              <a:rPr lang="en-US" altLang="en-US"/>
              <a:t>Quality-Demand Correlation </a:t>
            </a:r>
            <a:br>
              <a:rPr lang="en-US" altLang="en-US"/>
            </a:br>
            <a:r>
              <a:rPr lang="en-US" altLang="en-US" sz="1780"/>
              <a:t>Headline: Does High Volume Degrade Service Quality?</a:t>
            </a:r>
            <a:endParaRPr lang="en-US" altLang="en-US" sz="1780"/>
          </a:p>
        </p:txBody>
      </p:sp>
      <p:pic>
        <p:nvPicPr>
          <p:cNvPr id="4" name="Content Placeholder 3" descr="Screenshot 2026-02-21 184717"/>
          <p:cNvPicPr>
            <a:picLocks noChangeAspect="1"/>
          </p:cNvPicPr>
          <p:nvPr>
            <p:ph idx="1"/>
          </p:nvPr>
        </p:nvPicPr>
        <p:blipFill>
          <a:blip r:embed="rId1"/>
          <a:stretch>
            <a:fillRect/>
          </a:stretch>
        </p:blipFill>
        <p:spPr>
          <a:xfrm>
            <a:off x="5054600" y="1880870"/>
            <a:ext cx="3325495" cy="1865630"/>
          </a:xfrm>
          <a:prstGeom prst="rect">
            <a:avLst/>
          </a:prstGeom>
        </p:spPr>
      </p:pic>
      <p:pic>
        <p:nvPicPr>
          <p:cNvPr id="5" name="Picture 4" descr="Screenshot 2026-02-21 185119"/>
          <p:cNvPicPr>
            <a:picLocks noChangeAspect="1"/>
          </p:cNvPicPr>
          <p:nvPr/>
        </p:nvPicPr>
        <p:blipFill>
          <a:blip r:embed="rId2"/>
          <a:srcRect t="17006"/>
          <a:stretch>
            <a:fillRect/>
          </a:stretch>
        </p:blipFill>
        <p:spPr>
          <a:xfrm>
            <a:off x="9162415" y="2560320"/>
            <a:ext cx="2223135" cy="1809750"/>
          </a:xfrm>
          <a:prstGeom prst="rect">
            <a:avLst/>
          </a:prstGeom>
        </p:spPr>
      </p:pic>
      <p:sp>
        <p:nvSpPr>
          <p:cNvPr id="6" name="Text Box 5"/>
          <p:cNvSpPr txBox="1"/>
          <p:nvPr/>
        </p:nvSpPr>
        <p:spPr>
          <a:xfrm>
            <a:off x="0" y="1801495"/>
            <a:ext cx="5080000" cy="4311015"/>
          </a:xfrm>
          <a:prstGeom prst="rect">
            <a:avLst/>
          </a:prstGeom>
        </p:spPr>
        <p:txBody>
          <a:bodyPr>
            <a:noAutofit/>
          </a:bodyPr>
          <a:p>
            <a:r>
              <a:rPr sz="1600" b="1"/>
              <a:t>The Analytical Question: </a:t>
            </a:r>
            <a:r>
              <a:rPr sz="1600"/>
              <a:t>Investigated if a statistical relationship exists between </a:t>
            </a:r>
            <a:r>
              <a:rPr sz="1600"/>
              <a:t>Visitor Volume and Satisfaction Ratings across 5,989 records.</a:t>
            </a:r>
            <a:endParaRPr sz="1600"/>
          </a:p>
          <a:p>
            <a:r>
              <a:rPr sz="1600" b="1"/>
              <a:t>The Finding: </a:t>
            </a:r>
            <a:r>
              <a:rPr sz="1600"/>
              <a:t>Scatter Plot analysis reveals a </a:t>
            </a:r>
            <a:r>
              <a:rPr sz="1600"/>
              <a:t>Weak Positive Correlation, proving that massive footfall (3 Billion+) has not resulted in a decline in service quality.</a:t>
            </a:r>
            <a:endParaRPr sz="1600"/>
          </a:p>
          <a:p>
            <a:r>
              <a:rPr sz="1600" b="1"/>
              <a:t>Global Resilience: </a:t>
            </a:r>
            <a:r>
              <a:rPr sz="1600"/>
              <a:t>Destinations like </a:t>
            </a:r>
            <a:r>
              <a:rPr sz="1600"/>
              <a:t>Egypt and India manage millions of visitors while maintaining a stable 3.0 rating, showcasing robust infrastructure management.</a:t>
            </a:r>
            <a:endParaRPr sz="1600"/>
          </a:p>
          <a:p>
            <a:r>
              <a:rPr sz="1600" b="1"/>
              <a:t>Quality Outliers:</a:t>
            </a:r>
            <a:r>
              <a:rPr sz="1600"/>
              <a:t> Beach Tourism successfully maintains a high rating (3.07) even during peak demand periods, acting as the global standard for scale.</a:t>
            </a:r>
            <a:endParaRPr sz="1600"/>
          </a:p>
        </p:txBody>
      </p:sp>
      <p:sp>
        <p:nvSpPr>
          <p:cNvPr id="7" name="Text Box 6"/>
          <p:cNvSpPr txBox="1"/>
          <p:nvPr/>
        </p:nvSpPr>
        <p:spPr>
          <a:xfrm>
            <a:off x="6096000" y="4676140"/>
            <a:ext cx="5289550" cy="1306195"/>
          </a:xfrm>
          <a:prstGeom prst="rect">
            <a:avLst/>
          </a:prstGeom>
        </p:spPr>
        <p:txBody>
          <a:bodyPr>
            <a:noAutofit/>
          </a:bodyPr>
          <a:p>
            <a:r>
              <a:rPr sz="1600" b="1"/>
              <a:t>Business Insight:</a:t>
            </a:r>
            <a:endParaRPr sz="1600" b="1"/>
          </a:p>
          <a:p>
            <a:pPr>
              <a:buFont typeface="Arial" panose="020B0604020202020204"/>
              <a:buChar char="•"/>
            </a:pPr>
            <a:r>
              <a:rPr sz="1600" b="1"/>
              <a:t>Scalability Proof</a:t>
            </a:r>
            <a:r>
              <a:rPr sz="1600"/>
              <a:t>: This correlation is a "Green Light" for investors; it proves that global tourism can scale to </a:t>
            </a:r>
            <a:r>
              <a:rPr sz="1600" b="1"/>
              <a:t>3 Billion+ visitors</a:t>
            </a:r>
            <a:r>
              <a:rPr sz="1600"/>
              <a:t> without hitting a "Quality Ceiling".</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sz="3555" b="1"/>
              <a:t>Economic Efficiency &amp; Yield Analysis</a:t>
            </a:r>
            <a:br>
              <a:rPr lang="en-US" altLang="en-US" sz="3555" b="1"/>
            </a:br>
            <a:r>
              <a:rPr lang="en-US" altLang="en-US" sz="1600"/>
              <a:t>Headline: Measuring Global Yield: Revenue per Visitor</a:t>
            </a:r>
            <a:endParaRPr lang="en-US" altLang="en-US" sz="1600"/>
          </a:p>
        </p:txBody>
      </p:sp>
      <p:pic>
        <p:nvPicPr>
          <p:cNvPr id="4" name="Content Placeholder 3" descr="Screenshot 2026-02-21 184810"/>
          <p:cNvPicPr>
            <a:picLocks noChangeAspect="1"/>
          </p:cNvPicPr>
          <p:nvPr>
            <p:ph idx="1"/>
          </p:nvPr>
        </p:nvPicPr>
        <p:blipFill>
          <a:blip r:embed="rId1"/>
          <a:stretch>
            <a:fillRect/>
          </a:stretch>
        </p:blipFill>
        <p:spPr>
          <a:xfrm>
            <a:off x="313055" y="1341120"/>
            <a:ext cx="4757420" cy="1988820"/>
          </a:xfrm>
          <a:prstGeom prst="rect">
            <a:avLst/>
          </a:prstGeom>
        </p:spPr>
      </p:pic>
      <p:pic>
        <p:nvPicPr>
          <p:cNvPr id="5" name="Picture 4" descr="Screenshot 2026-02-21 185135"/>
          <p:cNvPicPr>
            <a:picLocks noChangeAspect="1"/>
          </p:cNvPicPr>
          <p:nvPr/>
        </p:nvPicPr>
        <p:blipFill>
          <a:blip r:embed="rId2"/>
          <a:srcRect t="11463"/>
          <a:stretch>
            <a:fillRect/>
          </a:stretch>
        </p:blipFill>
        <p:spPr>
          <a:xfrm>
            <a:off x="6353175" y="5132070"/>
            <a:ext cx="2875280" cy="1499235"/>
          </a:xfrm>
          <a:prstGeom prst="rect">
            <a:avLst/>
          </a:prstGeom>
        </p:spPr>
      </p:pic>
      <p:sp>
        <p:nvSpPr>
          <p:cNvPr id="6" name="Text Box 5"/>
          <p:cNvSpPr txBox="1"/>
          <p:nvPr/>
        </p:nvSpPr>
        <p:spPr>
          <a:xfrm>
            <a:off x="7047865" y="1691005"/>
            <a:ext cx="5080000" cy="3291840"/>
          </a:xfrm>
          <a:prstGeom prst="rect">
            <a:avLst/>
          </a:prstGeom>
        </p:spPr>
        <p:txBody>
          <a:bodyPr>
            <a:spAutoFit/>
          </a:bodyPr>
          <a:p>
            <a:r>
              <a:rPr sz="1600" b="1"/>
              <a:t>Metric Definition</a:t>
            </a:r>
            <a:r>
              <a:rPr sz="1600"/>
              <a:t>: Evaluates the average dollar value generated by a single visitor to determine the economic efficiency of different regions.</a:t>
            </a:r>
            <a:endParaRPr sz="1600"/>
          </a:p>
          <a:p>
            <a:r>
              <a:rPr sz="1600" b="1"/>
              <a:t>Normalized Benchmark</a:t>
            </a:r>
            <a:r>
              <a:rPr sz="1600"/>
              <a:t>: Following the removal of "Skyrocket" anomalies, the global efficiency average was stabilized at </a:t>
            </a:r>
            <a:r>
              <a:rPr sz="1600" b="1"/>
              <a:t>3.62</a:t>
            </a:r>
            <a:r>
              <a:rPr sz="1600"/>
              <a:t>.</a:t>
            </a:r>
            <a:endParaRPr sz="1600"/>
          </a:p>
          <a:p>
            <a:r>
              <a:rPr sz="1600" b="1"/>
              <a:t>Top Performer</a:t>
            </a:r>
            <a:r>
              <a:rPr sz="1600"/>
              <a:t>: </a:t>
            </a:r>
            <a:r>
              <a:rPr sz="1600" b="1"/>
              <a:t>China</a:t>
            </a:r>
            <a:r>
              <a:rPr sz="1600"/>
              <a:t> leads this metric, demonstrating a superior ability to convert high visitor volume into high-margin revenue.</a:t>
            </a:r>
            <a:endParaRPr sz="1600"/>
          </a:p>
          <a:p>
            <a:r>
              <a:rPr sz="1600" b="1"/>
              <a:t>Category Insight</a:t>
            </a:r>
            <a:r>
              <a:rPr sz="1600"/>
              <a:t>: </a:t>
            </a:r>
            <a:r>
              <a:rPr sz="1600" b="1"/>
              <a:t>Historical and Cultural</a:t>
            </a:r>
            <a:r>
              <a:rPr sz="1600"/>
              <a:t> segments show higher efficiency ratios compared to mass-market segments, indicating a higher "spend-per-head" in heritage tourism.</a:t>
            </a:r>
            <a:endParaRPr sz="1600"/>
          </a:p>
        </p:txBody>
      </p:sp>
      <p:sp>
        <p:nvSpPr>
          <p:cNvPr id="7" name="Text Box 6"/>
          <p:cNvSpPr txBox="1"/>
          <p:nvPr/>
        </p:nvSpPr>
        <p:spPr>
          <a:xfrm>
            <a:off x="189865" y="3331210"/>
            <a:ext cx="5080000" cy="3137535"/>
          </a:xfrm>
          <a:prstGeom prst="rect">
            <a:avLst/>
          </a:prstGeom>
        </p:spPr>
        <p:txBody>
          <a:bodyPr>
            <a:noAutofit/>
          </a:bodyPr>
          <a:p>
            <a:r>
              <a:rPr lang="en-US" sz="1600" b="1"/>
              <a:t>Business Insight</a:t>
            </a:r>
            <a:endParaRPr sz="1600" b="1"/>
          </a:p>
          <a:p>
            <a:r>
              <a:rPr sz="1600" b="1"/>
              <a:t>Yield vs. Volume</a:t>
            </a:r>
            <a:r>
              <a:rPr sz="1600"/>
              <a:t>: The data highlights that "more visitors" does not always mean "more profit"; focusing on the </a:t>
            </a:r>
            <a:r>
              <a:rPr sz="1600" b="1"/>
              <a:t>3.62 yield benchmark</a:t>
            </a:r>
            <a:r>
              <a:rPr sz="1600"/>
              <a:t> is more sustainable than chasing raw footfall alone.</a:t>
            </a:r>
            <a:endParaRPr sz="1600"/>
          </a:p>
          <a:p>
            <a:r>
              <a:rPr sz="1600" b="1"/>
              <a:t>Efficiency Gap</a:t>
            </a:r>
            <a:r>
              <a:rPr sz="1600"/>
              <a:t>: Destinations like </a:t>
            </a:r>
            <a:r>
              <a:rPr sz="1600" b="1"/>
              <a:t>Egypt</a:t>
            </a:r>
            <a:r>
              <a:rPr sz="1600"/>
              <a:t> (high volume) have a strategic opportunity to adopt </a:t>
            </a:r>
            <a:r>
              <a:rPr sz="1600" b="1"/>
              <a:t>China’s</a:t>
            </a:r>
            <a:r>
              <a:rPr sz="1600"/>
              <a:t> efficiency model to increase their Revenue per Visitor without needing more infrastructure.</a:t>
            </a:r>
            <a:endParaRPr sz="1600"/>
          </a:p>
          <a:p>
            <a:r>
              <a:rPr sz="1600" b="1"/>
              <a:t>Strategic Goal</a:t>
            </a:r>
            <a:r>
              <a:rPr sz="1600"/>
              <a:t>: Future marketing efforts should prioritize "High-Efficiency" categories to drive the global average toward a target of 4.0.</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t>Global Tourism Intelligence Dashboard</a:t>
            </a:r>
            <a:br>
              <a:rPr lang="en-US" altLang="en-US"/>
            </a:br>
            <a:r>
              <a:rPr lang="en-US" altLang="en-US" sz="1780"/>
              <a:t>Headline: Integrated Data Visualization for Strategic Decision Making</a:t>
            </a:r>
            <a:endParaRPr lang="en-US" altLang="en-US" sz="1780"/>
          </a:p>
        </p:txBody>
      </p:sp>
      <p:sp>
        <p:nvSpPr>
          <p:cNvPr id="4" name="Text Box 3"/>
          <p:cNvSpPr txBox="1"/>
          <p:nvPr/>
        </p:nvSpPr>
        <p:spPr>
          <a:xfrm>
            <a:off x="64770" y="1492885"/>
            <a:ext cx="5759450" cy="4845050"/>
          </a:xfrm>
          <a:prstGeom prst="rect">
            <a:avLst/>
          </a:prstGeom>
        </p:spPr>
        <p:txBody>
          <a:bodyPr>
            <a:noAutofit/>
          </a:bodyPr>
          <a:p>
            <a:pPr>
              <a:spcAft>
                <a:spcPct val="60000"/>
              </a:spcAft>
            </a:pPr>
            <a:r>
              <a:rPr sz="2200" b="1"/>
              <a:t> Global Tourism Intelligence Dashboard</a:t>
            </a:r>
            <a:endParaRPr sz="2200" b="1"/>
          </a:p>
          <a:p>
            <a:r>
              <a:rPr sz="1600" b="1"/>
              <a:t>Headline: Integrated Data Visualization for Strategic Decision Making</a:t>
            </a:r>
            <a:endParaRPr sz="1600" b="1"/>
          </a:p>
          <a:p>
            <a:pPr>
              <a:buFont typeface="Arial" panose="020B0604020202020204"/>
              <a:buChar char="•"/>
            </a:pPr>
            <a:r>
              <a:rPr sz="1600" b="1"/>
              <a:t>The Final Product</a:t>
            </a:r>
            <a:r>
              <a:rPr sz="1600"/>
              <a:t>: Successfully synthesized </a:t>
            </a:r>
            <a:r>
              <a:rPr sz="1600" b="1"/>
              <a:t>5,989 records</a:t>
            </a:r>
            <a:r>
              <a:rPr sz="1600"/>
              <a:t> into a centralized command center, providing a real-time pulse of global tourism performance.</a:t>
            </a:r>
            <a:endParaRPr sz="1600"/>
          </a:p>
          <a:p>
            <a:pPr>
              <a:buFont typeface="Arial" panose="020B0604020202020204"/>
              <a:buChar char="•"/>
            </a:pPr>
            <a:r>
              <a:rPr sz="1600" b="1"/>
              <a:t>Data Integrity Guaranteed</a:t>
            </a:r>
            <a:r>
              <a:rPr sz="1600"/>
              <a:t>: Every chart reflects the "Sanitized Truth," following the successful removal of extreme </a:t>
            </a:r>
            <a:r>
              <a:rPr sz="1600" b="1"/>
              <a:t>Revenue per Visitor</a:t>
            </a:r>
            <a:r>
              <a:rPr sz="1600"/>
              <a:t> anomalies.</a:t>
            </a:r>
            <a:endParaRPr sz="1600"/>
          </a:p>
          <a:p>
            <a:pPr>
              <a:buFont typeface="Arial" panose="020B0604020202020204"/>
              <a:buChar char="•"/>
            </a:pPr>
            <a:r>
              <a:rPr sz="1600" b="1"/>
              <a:t>KPI Interconnectivity</a:t>
            </a:r>
            <a:r>
              <a:rPr sz="1600"/>
              <a:t>: The dashboard allows stakeholders to instantly correlate </a:t>
            </a:r>
            <a:r>
              <a:rPr sz="1600" b="1"/>
              <a:t>3 Billion+ visitors</a:t>
            </a:r>
            <a:r>
              <a:rPr sz="1600"/>
              <a:t> with a </a:t>
            </a:r>
            <a:r>
              <a:rPr sz="1600" b="1"/>
              <a:t>$2.99 Billion</a:t>
            </a:r>
            <a:r>
              <a:rPr sz="1600"/>
              <a:t> revenue stream across specific regions and categories.</a:t>
            </a:r>
            <a:endParaRPr sz="1600"/>
          </a:p>
          <a:p>
            <a:pPr>
              <a:buFont typeface="Arial" panose="020B0604020202020204"/>
              <a:buChar char="•"/>
            </a:pPr>
            <a:r>
              <a:rPr sz="1600" b="1"/>
              <a:t>Operational Agility</a:t>
            </a:r>
            <a:r>
              <a:rPr sz="1600"/>
              <a:t>: Interactive slicers enable deep dives into country-specific yield, identifying </a:t>
            </a:r>
            <a:r>
              <a:rPr sz="1600" b="1"/>
              <a:t>China</a:t>
            </a:r>
            <a:r>
              <a:rPr sz="1600"/>
              <a:t> as the efficiency leader and </a:t>
            </a:r>
            <a:r>
              <a:rPr sz="1600" b="1"/>
              <a:t>Egypt</a:t>
            </a:r>
            <a:r>
              <a:rPr sz="1600"/>
              <a:t> as the volume driver.</a:t>
            </a:r>
            <a:endParaRPr sz="1600"/>
          </a:p>
        </p:txBody>
      </p:sp>
      <p:sp>
        <p:nvSpPr>
          <p:cNvPr id="6" name="Text Box 5"/>
          <p:cNvSpPr txBox="1"/>
          <p:nvPr/>
        </p:nvSpPr>
        <p:spPr>
          <a:xfrm>
            <a:off x="7112000" y="1890395"/>
            <a:ext cx="5080000" cy="4267835"/>
          </a:xfrm>
          <a:prstGeom prst="rect">
            <a:avLst/>
          </a:prstGeom>
        </p:spPr>
        <p:txBody>
          <a:bodyPr>
            <a:noAutofit/>
          </a:bodyPr>
          <a:p>
            <a:pPr>
              <a:spcAft>
                <a:spcPct val="60000"/>
              </a:spcAft>
            </a:pPr>
            <a:r>
              <a:rPr sz="2200" b="1"/>
              <a:t>Final Business Insight</a:t>
            </a:r>
            <a:endParaRPr sz="2200" b="1"/>
          </a:p>
          <a:p>
            <a:pPr>
              <a:buFont typeface="Arial" panose="020B0604020202020204"/>
              <a:buChar char="•"/>
            </a:pPr>
            <a:r>
              <a:rPr sz="1600" b="1"/>
              <a:t>Decision-Ready Framework</a:t>
            </a:r>
            <a:r>
              <a:rPr sz="1600"/>
              <a:t>: This dashboard transitions the organization from "guessing" to "knowing," providing a clear roadmap to increase the global yield average of </a:t>
            </a:r>
            <a:r>
              <a:rPr sz="1600" b="1"/>
              <a:t>3.62</a:t>
            </a:r>
            <a:r>
              <a:rPr sz="1600"/>
              <a:t>.</a:t>
            </a:r>
            <a:endParaRPr sz="1600"/>
          </a:p>
          <a:p>
            <a:pPr>
              <a:buFont typeface="Arial" panose="020B0604020202020204"/>
              <a:buChar char="•"/>
            </a:pPr>
            <a:r>
              <a:rPr sz="1600" b="1"/>
              <a:t>Quality vs. Quantity</a:t>
            </a:r>
            <a:r>
              <a:rPr sz="1600"/>
              <a:t>: By visualizing the </a:t>
            </a:r>
            <a:r>
              <a:rPr sz="1600" b="1"/>
              <a:t>3.0 Satisfaction Index</a:t>
            </a:r>
            <a:r>
              <a:rPr sz="1600"/>
              <a:t> alongside revenue, we prove that scaling tourism volume is sustainable without sacrificing service standards.</a:t>
            </a:r>
            <a:endParaRPr sz="1600"/>
          </a:p>
          <a:p>
            <a:pPr>
              <a:buFont typeface="Arial" panose="020B0604020202020204"/>
              <a:buChar char="•"/>
            </a:pPr>
            <a:r>
              <a:rPr sz="1600" b="1"/>
              <a:t>Strategic Recommendation</a:t>
            </a:r>
            <a:r>
              <a:rPr sz="1600"/>
              <a:t>: Future investments should be redirected toward high-revenue density categories (Cultural/Historical) to maximize the ROI of the existing </a:t>
            </a:r>
            <a:r>
              <a:rPr sz="1600" b="1"/>
              <a:t>3 Billion</a:t>
            </a:r>
            <a:r>
              <a:rPr sz="1600"/>
              <a:t> visitor base.</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Continued</a:t>
            </a:r>
            <a:endParaRPr lang="en-US" b="1"/>
          </a:p>
        </p:txBody>
      </p:sp>
      <p:sp>
        <p:nvSpPr>
          <p:cNvPr id="3" name="Content Placeholder 2"/>
          <p:cNvSpPr>
            <a:spLocks noGrp="1"/>
          </p:cNvSpPr>
          <p:nvPr>
            <p:ph idx="1"/>
          </p:nvPr>
        </p:nvSpPr>
        <p:spPr/>
        <p:txBody>
          <a:bodyPr/>
          <a:p>
            <a:r>
              <a:rPr lang="en-US"/>
              <a:t>                                                                            </a:t>
            </a:r>
            <a:endParaRPr lang="en-US"/>
          </a:p>
        </p:txBody>
      </p:sp>
      <p:pic>
        <p:nvPicPr>
          <p:cNvPr id="7" name="Picture 6" descr="Screenshot 2026-02-21 184903"/>
          <p:cNvPicPr>
            <a:picLocks noChangeAspect="1"/>
          </p:cNvPicPr>
          <p:nvPr/>
        </p:nvPicPr>
        <p:blipFill>
          <a:blip r:embed="rId1"/>
          <a:stretch>
            <a:fillRect/>
          </a:stretch>
        </p:blipFill>
        <p:spPr>
          <a:xfrm>
            <a:off x="7164705" y="1600835"/>
            <a:ext cx="5027295" cy="5027295"/>
          </a:xfrm>
          <a:prstGeom prst="rect">
            <a:avLst/>
          </a:prstGeom>
        </p:spPr>
      </p:pic>
      <p:pic>
        <p:nvPicPr>
          <p:cNvPr id="5" name="Content Placeholder 4" descr="Screenshot 2026-02-21 185328"/>
          <p:cNvPicPr>
            <a:picLocks noChangeAspect="1"/>
          </p:cNvPicPr>
          <p:nvPr/>
        </p:nvPicPr>
        <p:blipFill>
          <a:blip r:embed="rId2"/>
          <a:srcRect t="7832"/>
          <a:stretch>
            <a:fillRect/>
          </a:stretch>
        </p:blipFill>
        <p:spPr>
          <a:xfrm>
            <a:off x="420370" y="1600200"/>
            <a:ext cx="6469380" cy="483806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t>Strategic Conclusion &amp; Growth Roadmap</a:t>
            </a:r>
            <a:br>
              <a:rPr lang="en-US" altLang="en-US"/>
            </a:br>
            <a:r>
              <a:rPr lang="en-US" altLang="en-US" sz="1780"/>
              <a:t>Headline: Data-Driven Recommendations for Global Tourism Scaling</a:t>
            </a:r>
            <a:endParaRPr lang="en-US" altLang="en-US" sz="1780"/>
          </a:p>
        </p:txBody>
      </p:sp>
      <p:sp>
        <p:nvSpPr>
          <p:cNvPr id="4" name="Text Box 3"/>
          <p:cNvSpPr txBox="1"/>
          <p:nvPr/>
        </p:nvSpPr>
        <p:spPr>
          <a:xfrm>
            <a:off x="6273800" y="2132965"/>
            <a:ext cx="5080000" cy="3385820"/>
          </a:xfrm>
          <a:prstGeom prst="rect">
            <a:avLst/>
          </a:prstGeom>
        </p:spPr>
        <p:txBody>
          <a:bodyPr>
            <a:spAutoFit/>
          </a:bodyPr>
          <a:p>
            <a:pPr>
              <a:spcAft>
                <a:spcPct val="60000"/>
              </a:spcAft>
            </a:pPr>
            <a:r>
              <a:rPr sz="2200" b="1"/>
              <a:t>Final Business Recommendations</a:t>
            </a:r>
            <a:endParaRPr sz="2200" b="1"/>
          </a:p>
          <a:p>
            <a:pPr>
              <a:buFont typeface="Arial" panose="020B0604020202020204"/>
              <a:buChar char="•"/>
            </a:pPr>
            <a:r>
              <a:rPr sz="1600" b="1"/>
              <a:t>Yield-Focused Marketing</a:t>
            </a:r>
            <a:r>
              <a:rPr sz="1600"/>
              <a:t>: Shift focus from pure "Visitor Volume" to "Value per Head," using the </a:t>
            </a:r>
            <a:r>
              <a:rPr sz="1600" b="1"/>
              <a:t>China model</a:t>
            </a:r>
            <a:r>
              <a:rPr sz="1600"/>
              <a:t> to increase revenue in high-traffic zones like </a:t>
            </a:r>
            <a:r>
              <a:rPr sz="1600" b="1"/>
              <a:t>Egypt</a:t>
            </a:r>
            <a:r>
              <a:rPr sz="1600"/>
              <a:t>.</a:t>
            </a:r>
            <a:endParaRPr sz="1600"/>
          </a:p>
          <a:p>
            <a:pPr>
              <a:buFont typeface="Arial" panose="020B0604020202020204"/>
              <a:buChar char="•"/>
            </a:pPr>
            <a:r>
              <a:rPr sz="1600" b="1"/>
              <a:t>Service Differentiation</a:t>
            </a:r>
            <a:r>
              <a:rPr sz="1600"/>
              <a:t>: Leverage the high satisfaction of </a:t>
            </a:r>
            <a:r>
              <a:rPr sz="1600" b="1"/>
              <a:t>Beach Tourism</a:t>
            </a:r>
            <a:r>
              <a:rPr sz="1600"/>
              <a:t> to create hybrid "Beach-Culture" packages, cross-selling the most efficient categories to the happiest visitors.</a:t>
            </a:r>
            <a:endParaRPr sz="1600"/>
          </a:p>
          <a:p>
            <a:pPr>
              <a:buFont typeface="Arial" panose="020B0604020202020204"/>
              <a:buChar char="•"/>
            </a:pPr>
            <a:r>
              <a:rPr sz="1600" b="1"/>
              <a:t>Data-First Culture</a:t>
            </a:r>
            <a:r>
              <a:rPr sz="1600"/>
              <a:t>: Use the </a:t>
            </a:r>
            <a:r>
              <a:rPr sz="1600" b="1"/>
              <a:t>Global Tourism Performance Dashboard</a:t>
            </a:r>
            <a:r>
              <a:rPr sz="1600"/>
              <a:t> as a quarterly auditing tool to monitor regional efficiency and catch "Skyrocket" anomalies before they distort financial reporting.</a:t>
            </a:r>
            <a:endParaRPr sz="1600"/>
          </a:p>
        </p:txBody>
      </p:sp>
      <p:sp>
        <p:nvSpPr>
          <p:cNvPr id="5" name="Text Box 4"/>
          <p:cNvSpPr txBox="1"/>
          <p:nvPr/>
        </p:nvSpPr>
        <p:spPr>
          <a:xfrm>
            <a:off x="93980" y="1702435"/>
            <a:ext cx="6096000" cy="4246245"/>
          </a:xfrm>
          <a:prstGeom prst="rect">
            <a:avLst/>
          </a:prstGeom>
          <a:noFill/>
        </p:spPr>
        <p:txBody>
          <a:bodyPr wrap="square" rtlCol="0" anchor="t">
            <a:spAutoFit/>
          </a:bodyPr>
          <a:p>
            <a:r>
              <a:rPr lang="en-US" altLang="en-US">
                <a:sym typeface="+mn-ea"/>
              </a:rPr>
              <a:t>The Verdict: The analysis of 5,989 records confirms a robust global tourism market with a total valuation of $2.99 Billion and a massive visitor base of 3 Billion+.</a:t>
            </a:r>
            <a:endParaRPr lang="en-US" altLang="en-US"/>
          </a:p>
          <a:p>
            <a:endParaRPr lang="en-US" altLang="en-US"/>
          </a:p>
          <a:p>
            <a:r>
              <a:rPr lang="en-US" altLang="en-US">
                <a:sym typeface="+mn-ea"/>
              </a:rPr>
              <a:t>Efficiency Benchmark: The successful normalization of data established a realistic efficiency floor of 3.62 Revenue/Visitor, identifying China as the gold standard for yield management.</a:t>
            </a:r>
            <a:endParaRPr lang="en-US" altLang="en-US"/>
          </a:p>
          <a:p>
            <a:endParaRPr lang="en-US" altLang="en-US"/>
          </a:p>
          <a:p>
            <a:r>
              <a:rPr lang="en-US" altLang="en-US">
                <a:sym typeface="+mn-ea"/>
              </a:rPr>
              <a:t>Quality Assurance: Maintaining a 3.0 Satisfaction Index at a 3-billion visitor scale proves that global infrastructure is mature and ready for further premium expansion.</a:t>
            </a:r>
            <a:endParaRPr lang="en-US" altLang="en-US"/>
          </a:p>
          <a:p>
            <a:endParaRPr lang="en-US" altLang="en-US"/>
          </a:p>
          <a:p>
            <a:r>
              <a:rPr lang="en-US" altLang="en-US">
                <a:sym typeface="+mn-ea"/>
              </a:rPr>
              <a:t>Core Growth Engine: Cultural and Historical tourism sectors are the clear winners, driving the highest revenue and justifying increased future investment.</a:t>
            </a:r>
            <a:endParaRPr lang="en-US" altLang="en-US">
              <a:sym typeface="+mn-ea"/>
            </a:endParaRPr>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12952</Words>
  <Application>WPS Presentation</Application>
  <PresentationFormat>Widescreen</PresentationFormat>
  <Paragraphs>209</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Arial</vt:lpstr>
      <vt:lpstr>SimSun</vt:lpstr>
      <vt:lpstr>Wingdings</vt:lpstr>
      <vt:lpstr>Calibri</vt:lpstr>
      <vt:lpstr>Calibri Light</vt:lpstr>
      <vt:lpstr>Microsoft YaHei</vt:lpstr>
      <vt:lpstr>Arial Unicode MS</vt:lpstr>
      <vt:lpstr>Calibri</vt:lpstr>
      <vt:lpstr>Arial</vt:lpstr>
      <vt:lpstr>Business Cooperate</vt:lpstr>
      <vt:lpstr>Project Title: Global Tourism Performance &amp; Revenue Optimization Analysis. .</vt:lpstr>
      <vt:lpstr>Primary Objective:   To  identify high-performing tourism segments and provide actionable growth recommendations. Data Volume: 5000+ records (Meeting the 1k-5k row mentor requirement).</vt:lpstr>
      <vt:lpstr>Business &amp; Research Questions</vt:lpstr>
      <vt:lpstr>Data Cleaning &amp; Preprocessing Strategy</vt:lpstr>
      <vt:lpstr>Data Transformation &amp; Formatting</vt:lpstr>
      <vt:lpstr>Identification of Statistical  Anomalies(Outlier)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abc</dc:creator>
  <cp:lastModifiedBy>Rahul Pandey</cp:lastModifiedBy>
  <cp:revision>124</cp:revision>
  <dcterms:created xsi:type="dcterms:W3CDTF">2025-07-23T00:59:00Z</dcterms:created>
  <dcterms:modified xsi:type="dcterms:W3CDTF">2026-02-22T18:16:24Z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314AFB615BEA4EDEBF747393CDC68CB0_11</vt:lpwstr>
  </property>
  <property fmtid="{D5CDD505-2E9C-101B-9397-08002B2CF9AE}" pid="3" name="KSOProductBuildVer">
    <vt:lpwstr>1033-12.2.0.23196</vt:lpwstr>
  </property>
</Properties>
</file>